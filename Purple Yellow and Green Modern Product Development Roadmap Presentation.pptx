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Lato Bold" charset="1" panose="020F0502020204030203"/>
      <p:regular r:id="rId17"/>
    </p:embeddedFont>
    <p:embeddedFont>
      <p:font typeface="Lato" charset="1" panose="020F050202020403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12" Target="../media/image69.png" Type="http://schemas.openxmlformats.org/officeDocument/2006/relationships/image"/><Relationship Id="rId13" Target="../media/image70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16" Target="../media/image73.png" Type="http://schemas.openxmlformats.org/officeDocument/2006/relationships/image"/><Relationship Id="rId17" Target="../media/image74.svg" Type="http://schemas.openxmlformats.org/officeDocument/2006/relationships/image"/><Relationship Id="rId18" Target="../media/image75.png" Type="http://schemas.openxmlformats.org/officeDocument/2006/relationships/image"/><Relationship Id="rId19" Target="../media/image76.svg" Type="http://schemas.openxmlformats.org/officeDocument/2006/relationships/image"/><Relationship Id="rId2" Target="../media/image59.png" Type="http://schemas.openxmlformats.org/officeDocument/2006/relationships/image"/><Relationship Id="rId20" Target="../media/image77.png" Type="http://schemas.openxmlformats.org/officeDocument/2006/relationships/image"/><Relationship Id="rId21" Target="../media/image78.sv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248791" y="5312566"/>
            <a:ext cx="4291668" cy="2510067"/>
            <a:chOff x="0" y="0"/>
            <a:chExt cx="1218698" cy="712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2945272" y="5312566"/>
            <a:ext cx="4291668" cy="2510067"/>
            <a:chOff x="0" y="0"/>
            <a:chExt cx="1218698" cy="7127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7034" y="3544175"/>
            <a:ext cx="1755181" cy="17551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15559" y="3544175"/>
            <a:ext cx="1755181" cy="17551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0495" y="3757636"/>
            <a:ext cx="1328259" cy="132825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26977" y="3757636"/>
            <a:ext cx="1328259" cy="13282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5645840" y="5312566"/>
            <a:ext cx="4291668" cy="2510067"/>
            <a:chOff x="0" y="0"/>
            <a:chExt cx="1218698" cy="7127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14083" y="3544175"/>
            <a:ext cx="1755181" cy="17551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27544" y="3757636"/>
            <a:ext cx="1328259" cy="132825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8346407" y="5312566"/>
            <a:ext cx="4291668" cy="2510067"/>
            <a:chOff x="0" y="0"/>
            <a:chExt cx="1218698" cy="712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12607" y="3544175"/>
            <a:ext cx="1755181" cy="175518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28111" y="3757636"/>
            <a:ext cx="1328259" cy="132825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1046974" y="5312566"/>
            <a:ext cx="4291668" cy="2510067"/>
            <a:chOff x="0" y="0"/>
            <a:chExt cx="1218698" cy="7127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9E8C95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11132" y="3544175"/>
            <a:ext cx="1755181" cy="175518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9E8C95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28678" y="3757636"/>
            <a:ext cx="1328259" cy="132825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5400000">
            <a:off x="13747541" y="5312566"/>
            <a:ext cx="4291668" cy="2510067"/>
            <a:chOff x="0" y="0"/>
            <a:chExt cx="1218698" cy="7127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4873" cy="712780"/>
            </a:xfrm>
            <a:custGeom>
              <a:avLst/>
              <a:gdLst/>
              <a:ahLst/>
              <a:cxnLst/>
              <a:rect r="r" b="b" t="t" l="l"/>
              <a:pathLst>
                <a:path h="712780" w="1214873">
                  <a:moveTo>
                    <a:pt x="1001067" y="0"/>
                  </a:moveTo>
                  <a:lnTo>
                    <a:pt x="14432" y="0"/>
                  </a:lnTo>
                  <a:cubicBezTo>
                    <a:pt x="6461" y="0"/>
                    <a:pt x="0" y="6461"/>
                    <a:pt x="0" y="14432"/>
                  </a:cubicBezTo>
                  <a:lnTo>
                    <a:pt x="0" y="698348"/>
                  </a:lnTo>
                  <a:cubicBezTo>
                    <a:pt x="0" y="706319"/>
                    <a:pt x="6461" y="712780"/>
                    <a:pt x="14432" y="712780"/>
                  </a:cubicBezTo>
                  <a:lnTo>
                    <a:pt x="1001067" y="712780"/>
                  </a:lnTo>
                  <a:cubicBezTo>
                    <a:pt x="1009989" y="712780"/>
                    <a:pt x="1018227" y="707994"/>
                    <a:pt x="1022646" y="700243"/>
                  </a:cubicBezTo>
                  <a:lnTo>
                    <a:pt x="1211550" y="368927"/>
                  </a:lnTo>
                  <a:cubicBezTo>
                    <a:pt x="1215981" y="361156"/>
                    <a:pt x="1215981" y="351624"/>
                    <a:pt x="1211550" y="343853"/>
                  </a:cubicBezTo>
                  <a:lnTo>
                    <a:pt x="1022646" y="12537"/>
                  </a:lnTo>
                  <a:cubicBezTo>
                    <a:pt x="1018227" y="4786"/>
                    <a:pt x="1009989" y="0"/>
                    <a:pt x="1001067" y="0"/>
                  </a:cubicBezTo>
                  <a:close/>
                </a:path>
              </a:pathLst>
            </a:custGeom>
            <a:solidFill>
              <a:srgbClr val="FCF7F6"/>
            </a:solidFill>
            <a:ln w="76200" cap="sq">
              <a:solidFill>
                <a:srgbClr val="667B8A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104398" cy="76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009656" y="3544175"/>
            <a:ext cx="1755181" cy="175518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7F6"/>
            </a:solidFill>
            <a:ln w="95250" cap="sq">
              <a:solidFill>
                <a:srgbClr val="667B8A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229245" y="3757636"/>
            <a:ext cx="1328259" cy="1328259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7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84514" y="7903433"/>
            <a:ext cx="2020223" cy="597871"/>
            <a:chOff x="0" y="0"/>
            <a:chExt cx="2845361" cy="84206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083038" y="7903433"/>
            <a:ext cx="2020223" cy="597871"/>
            <a:chOff x="0" y="0"/>
            <a:chExt cx="2845361" cy="8420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74765" y="7903433"/>
            <a:ext cx="2020223" cy="597871"/>
            <a:chOff x="0" y="0"/>
            <a:chExt cx="2845361" cy="8420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66492" y="7903433"/>
            <a:ext cx="2020223" cy="597871"/>
            <a:chOff x="0" y="0"/>
            <a:chExt cx="2845361" cy="8420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58219" y="7903433"/>
            <a:ext cx="2020223" cy="597871"/>
            <a:chOff x="0" y="0"/>
            <a:chExt cx="2845361" cy="84206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849946" y="7903433"/>
            <a:ext cx="2020223" cy="597871"/>
            <a:chOff x="0" y="0"/>
            <a:chExt cx="2845361" cy="84206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2264" y="0"/>
              <a:ext cx="2800833" cy="833673"/>
            </a:xfrm>
            <a:custGeom>
              <a:avLst/>
              <a:gdLst/>
              <a:ahLst/>
              <a:cxnLst/>
              <a:rect r="r" b="b" t="t" l="l"/>
              <a:pathLst>
                <a:path h="833673" w="2800833">
                  <a:moveTo>
                    <a:pt x="1426799" y="826450"/>
                  </a:moveTo>
                  <a:lnTo>
                    <a:pt x="2796715" y="15616"/>
                  </a:lnTo>
                  <a:cubicBezTo>
                    <a:pt x="2799969" y="13689"/>
                    <a:pt x="2801533" y="9824"/>
                    <a:pt x="2800535" y="6177"/>
                  </a:cubicBezTo>
                  <a:cubicBezTo>
                    <a:pt x="2799536" y="2529"/>
                    <a:pt x="2796221" y="0"/>
                    <a:pt x="2792440" y="0"/>
                  </a:cubicBezTo>
                  <a:lnTo>
                    <a:pt x="8394" y="0"/>
                  </a:lnTo>
                  <a:cubicBezTo>
                    <a:pt x="4612" y="0"/>
                    <a:pt x="1297" y="2529"/>
                    <a:pt x="299" y="6177"/>
                  </a:cubicBezTo>
                  <a:cubicBezTo>
                    <a:pt x="-700" y="9824"/>
                    <a:pt x="864" y="13689"/>
                    <a:pt x="4119" y="15616"/>
                  </a:cubicBezTo>
                  <a:lnTo>
                    <a:pt x="1374034" y="826450"/>
                  </a:lnTo>
                  <a:cubicBezTo>
                    <a:pt x="1390304" y="836080"/>
                    <a:pt x="1410529" y="836080"/>
                    <a:pt x="1426799" y="826450"/>
                  </a:cubicBezTo>
                  <a:close/>
                </a:path>
              </a:pathLst>
            </a:custGeom>
            <a:solidFill>
              <a:srgbClr val="667B8A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444588" y="2998"/>
              <a:ext cx="1956186" cy="44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300781" y="8975362"/>
            <a:ext cx="187688" cy="187688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999305" y="8975362"/>
            <a:ext cx="187688" cy="187688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697829" y="8975362"/>
            <a:ext cx="187688" cy="187688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cap="sq">
              <a:noFill/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396354" y="8975362"/>
            <a:ext cx="187688" cy="187688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cap="sq">
              <a:noFill/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094878" y="8975362"/>
            <a:ext cx="187688" cy="187688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cap="sq">
              <a:noFill/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793403" y="8975362"/>
            <a:ext cx="187688" cy="187688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7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2038508" y="4032373"/>
            <a:ext cx="712234" cy="778784"/>
          </a:xfrm>
          <a:custGeom>
            <a:avLst/>
            <a:gdLst/>
            <a:ahLst/>
            <a:cxnLst/>
            <a:rect r="r" b="b" t="t" l="l"/>
            <a:pathLst>
              <a:path h="778784" w="712234">
                <a:moveTo>
                  <a:pt x="0" y="0"/>
                </a:moveTo>
                <a:lnTo>
                  <a:pt x="712234" y="0"/>
                </a:lnTo>
                <a:lnTo>
                  <a:pt x="712234" y="778785"/>
                </a:lnTo>
                <a:lnTo>
                  <a:pt x="0" y="77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3" id="93"/>
          <p:cNvSpPr/>
          <p:nvPr/>
        </p:nvSpPr>
        <p:spPr>
          <a:xfrm flipH="false" flipV="false" rot="0">
            <a:off x="4709189" y="4043237"/>
            <a:ext cx="767921" cy="767921"/>
          </a:xfrm>
          <a:custGeom>
            <a:avLst/>
            <a:gdLst/>
            <a:ahLst/>
            <a:cxnLst/>
            <a:rect r="r" b="b" t="t" l="l"/>
            <a:pathLst>
              <a:path h="767921" w="767921">
                <a:moveTo>
                  <a:pt x="0" y="0"/>
                </a:moveTo>
                <a:lnTo>
                  <a:pt x="767921" y="0"/>
                </a:lnTo>
                <a:lnTo>
                  <a:pt x="767921" y="767921"/>
                </a:lnTo>
                <a:lnTo>
                  <a:pt x="0" y="767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4" id="94"/>
          <p:cNvSpPr/>
          <p:nvPr/>
        </p:nvSpPr>
        <p:spPr>
          <a:xfrm flipH="false" flipV="false" rot="0">
            <a:off x="7312329" y="4032373"/>
            <a:ext cx="981904" cy="729779"/>
          </a:xfrm>
          <a:custGeom>
            <a:avLst/>
            <a:gdLst/>
            <a:ahLst/>
            <a:cxnLst/>
            <a:rect r="r" b="b" t="t" l="l"/>
            <a:pathLst>
              <a:path h="729779" w="981904">
                <a:moveTo>
                  <a:pt x="0" y="0"/>
                </a:moveTo>
                <a:lnTo>
                  <a:pt x="981903" y="0"/>
                </a:lnTo>
                <a:lnTo>
                  <a:pt x="981903" y="729779"/>
                </a:lnTo>
                <a:lnTo>
                  <a:pt x="0" y="72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5" id="95"/>
          <p:cNvSpPr/>
          <p:nvPr/>
        </p:nvSpPr>
        <p:spPr>
          <a:xfrm flipH="false" flipV="false" rot="0">
            <a:off x="10053427" y="3854387"/>
            <a:ext cx="877627" cy="1085752"/>
          </a:xfrm>
          <a:custGeom>
            <a:avLst/>
            <a:gdLst/>
            <a:ahLst/>
            <a:cxnLst/>
            <a:rect r="r" b="b" t="t" l="l"/>
            <a:pathLst>
              <a:path h="1085752" w="877627">
                <a:moveTo>
                  <a:pt x="0" y="0"/>
                </a:moveTo>
                <a:lnTo>
                  <a:pt x="877627" y="0"/>
                </a:lnTo>
                <a:lnTo>
                  <a:pt x="877627" y="1085752"/>
                </a:lnTo>
                <a:lnTo>
                  <a:pt x="0" y="1085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6" id="96"/>
          <p:cNvSpPr/>
          <p:nvPr/>
        </p:nvSpPr>
        <p:spPr>
          <a:xfrm flipH="false" flipV="false" rot="0">
            <a:off x="12866449" y="4051668"/>
            <a:ext cx="652718" cy="740195"/>
          </a:xfrm>
          <a:custGeom>
            <a:avLst/>
            <a:gdLst/>
            <a:ahLst/>
            <a:cxnLst/>
            <a:rect r="r" b="b" t="t" l="l"/>
            <a:pathLst>
              <a:path h="740195" w="652718">
                <a:moveTo>
                  <a:pt x="0" y="0"/>
                </a:moveTo>
                <a:lnTo>
                  <a:pt x="652718" y="0"/>
                </a:lnTo>
                <a:lnTo>
                  <a:pt x="652718" y="740195"/>
                </a:lnTo>
                <a:lnTo>
                  <a:pt x="0" y="740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7" id="97"/>
          <p:cNvSpPr/>
          <p:nvPr/>
        </p:nvSpPr>
        <p:spPr>
          <a:xfrm flipH="false" flipV="false" rot="0">
            <a:off x="15457491" y="3983221"/>
            <a:ext cx="899999" cy="877090"/>
          </a:xfrm>
          <a:custGeom>
            <a:avLst/>
            <a:gdLst/>
            <a:ahLst/>
            <a:cxnLst/>
            <a:rect r="r" b="b" t="t" l="l"/>
            <a:pathLst>
              <a:path h="877090" w="899999">
                <a:moveTo>
                  <a:pt x="0" y="0"/>
                </a:moveTo>
                <a:lnTo>
                  <a:pt x="899999" y="0"/>
                </a:lnTo>
                <a:lnTo>
                  <a:pt x="899999" y="877089"/>
                </a:lnTo>
                <a:lnTo>
                  <a:pt x="0" y="877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8" id="98"/>
          <p:cNvSpPr txBox="true"/>
          <p:nvPr/>
        </p:nvSpPr>
        <p:spPr>
          <a:xfrm rot="0">
            <a:off x="3755529" y="885825"/>
            <a:ext cx="10776942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DEVELOPMENT ROADMAP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575761" y="5405591"/>
            <a:ext cx="163772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Ideation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272242" y="5405591"/>
            <a:ext cx="163772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Product Design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84514" y="594890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Identify market needs and initial concepts for a new product.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080995" y="634895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Develop the main design and features of the product before prototyping.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972809" y="5405591"/>
            <a:ext cx="163772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Market Research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781562" y="634895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Analyze trends and customer needs to validate the product idea.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484857" y="5405591"/>
            <a:ext cx="20147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Testing &amp; Prototyping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482129" y="634895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Test the initial product to identify issues and improvements.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182697" y="5405591"/>
            <a:ext cx="2020223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Improvement &amp; Refinement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182697" y="634895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Iterate based on feedback from product testing results.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5074511" y="5405591"/>
            <a:ext cx="163772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Launch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883264" y="5948903"/>
            <a:ext cx="2020223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The product is launched to the market with an integrated marketing strategy.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380811"/>
            <a:ext cx="3784392" cy="2645357"/>
            <a:chOff x="0" y="0"/>
            <a:chExt cx="1151686" cy="805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09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8972" y="5380811"/>
            <a:ext cx="3784392" cy="2645357"/>
            <a:chOff x="0" y="0"/>
            <a:chExt cx="1151686" cy="8050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B98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49245" y="5380811"/>
            <a:ext cx="3784392" cy="2645357"/>
            <a:chOff x="0" y="0"/>
            <a:chExt cx="1151686" cy="8050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A2A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64636" y="5380811"/>
            <a:ext cx="3784392" cy="2645357"/>
            <a:chOff x="0" y="0"/>
            <a:chExt cx="1151686" cy="8050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B4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74908" y="5380811"/>
            <a:ext cx="3784392" cy="2645357"/>
            <a:chOff x="0" y="0"/>
            <a:chExt cx="1151686" cy="8050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1686" cy="805049"/>
            </a:xfrm>
            <a:custGeom>
              <a:avLst/>
              <a:gdLst/>
              <a:ahLst/>
              <a:cxnLst/>
              <a:rect r="r" b="b" t="t" l="l"/>
              <a:pathLst>
                <a:path h="805049" w="1151686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8C9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87405" y="7359098"/>
            <a:ext cx="1334140" cy="13341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w="95250" cap="sq">
              <a:solidFill>
                <a:srgbClr val="FCF7F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49007" y="7359098"/>
            <a:ext cx="1334140" cy="133414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38020" y="4713741"/>
            <a:ext cx="1334140" cy="133414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42020" y="4713741"/>
            <a:ext cx="1334140" cy="133414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53006" y="7359098"/>
            <a:ext cx="1334140" cy="133414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545210" y="7691334"/>
            <a:ext cx="618531" cy="669669"/>
          </a:xfrm>
          <a:custGeom>
            <a:avLst/>
            <a:gdLst/>
            <a:ahLst/>
            <a:cxnLst/>
            <a:rect r="r" b="b" t="t" l="l"/>
            <a:pathLst>
              <a:path h="669669" w="618531">
                <a:moveTo>
                  <a:pt x="0" y="0"/>
                </a:moveTo>
                <a:lnTo>
                  <a:pt x="618531" y="0"/>
                </a:lnTo>
                <a:lnTo>
                  <a:pt x="618531" y="669669"/>
                </a:lnTo>
                <a:lnTo>
                  <a:pt x="0" y="669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5431546" y="5037829"/>
            <a:ext cx="747090" cy="685964"/>
          </a:xfrm>
          <a:custGeom>
            <a:avLst/>
            <a:gdLst/>
            <a:ahLst/>
            <a:cxnLst/>
            <a:rect r="r" b="b" t="t" l="l"/>
            <a:pathLst>
              <a:path h="685964" w="747090">
                <a:moveTo>
                  <a:pt x="0" y="0"/>
                </a:moveTo>
                <a:lnTo>
                  <a:pt x="747089" y="0"/>
                </a:lnTo>
                <a:lnTo>
                  <a:pt x="747089" y="685964"/>
                </a:lnTo>
                <a:lnTo>
                  <a:pt x="0" y="68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8595805" y="7674452"/>
            <a:ext cx="640544" cy="618417"/>
          </a:xfrm>
          <a:custGeom>
            <a:avLst/>
            <a:gdLst/>
            <a:ahLst/>
            <a:cxnLst/>
            <a:rect r="r" b="b" t="t" l="l"/>
            <a:pathLst>
              <a:path h="618417" w="640544">
                <a:moveTo>
                  <a:pt x="0" y="0"/>
                </a:moveTo>
                <a:lnTo>
                  <a:pt x="640544" y="0"/>
                </a:lnTo>
                <a:lnTo>
                  <a:pt x="640544" y="618416"/>
                </a:lnTo>
                <a:lnTo>
                  <a:pt x="0" y="618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4825303" y="7674452"/>
            <a:ext cx="673693" cy="673693"/>
          </a:xfrm>
          <a:custGeom>
            <a:avLst/>
            <a:gdLst/>
            <a:ahLst/>
            <a:cxnLst/>
            <a:rect r="r" b="b" t="t" l="l"/>
            <a:pathLst>
              <a:path h="673693" w="673693">
                <a:moveTo>
                  <a:pt x="0" y="0"/>
                </a:moveTo>
                <a:lnTo>
                  <a:pt x="673692" y="0"/>
                </a:lnTo>
                <a:lnTo>
                  <a:pt x="673692" y="673692"/>
                </a:lnTo>
                <a:lnTo>
                  <a:pt x="0" y="673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1742873" y="5048040"/>
            <a:ext cx="532434" cy="665543"/>
          </a:xfrm>
          <a:custGeom>
            <a:avLst/>
            <a:gdLst/>
            <a:ahLst/>
            <a:cxnLst/>
            <a:rect r="r" b="b" t="t" l="l"/>
            <a:pathLst>
              <a:path h="665543" w="532434">
                <a:moveTo>
                  <a:pt x="0" y="0"/>
                </a:moveTo>
                <a:lnTo>
                  <a:pt x="532434" y="0"/>
                </a:lnTo>
                <a:lnTo>
                  <a:pt x="532434" y="665543"/>
                </a:lnTo>
                <a:lnTo>
                  <a:pt x="0" y="665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7" id="37"/>
          <p:cNvSpPr txBox="true"/>
          <p:nvPr/>
        </p:nvSpPr>
        <p:spPr>
          <a:xfrm rot="0">
            <a:off x="3844528" y="885825"/>
            <a:ext cx="1059894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MANAGEMENT ROADMAP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87405" y="6442791"/>
            <a:ext cx="195156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Ideation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297677" y="6242766"/>
            <a:ext cx="19515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Team Allocation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2181" y="3851559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Define the goals, budget, and project schedule before starting.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74580" y="824524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Allocate resources and the team that will work on the project.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96979" y="3851559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Execute the project according to the plan and monitor progress.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19378" y="8245243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Regularly track project progress to ensure goals are met.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07950" y="6442791"/>
            <a:ext cx="195156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Execution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18222" y="6442791"/>
            <a:ext cx="195156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Monitoring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28494" y="6442791"/>
            <a:ext cx="195156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Completion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341777" y="3851559"/>
            <a:ext cx="202022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Complete all deliverables and conduct project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3463" y="4581188"/>
            <a:ext cx="3095625" cy="3178398"/>
            <a:chOff x="0" y="0"/>
            <a:chExt cx="844716" cy="867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716" cy="867303"/>
            </a:xfrm>
            <a:custGeom>
              <a:avLst/>
              <a:gdLst/>
              <a:ahLst/>
              <a:cxnLst/>
              <a:rect r="r" b="b" t="t" l="l"/>
              <a:pathLst>
                <a:path h="867303" w="844716">
                  <a:moveTo>
                    <a:pt x="30011" y="0"/>
                  </a:moveTo>
                  <a:lnTo>
                    <a:pt x="814705" y="0"/>
                  </a:lnTo>
                  <a:cubicBezTo>
                    <a:pt x="822664" y="0"/>
                    <a:pt x="830298" y="3162"/>
                    <a:pt x="835926" y="8790"/>
                  </a:cubicBezTo>
                  <a:cubicBezTo>
                    <a:pt x="841554" y="14418"/>
                    <a:pt x="844716" y="22052"/>
                    <a:pt x="844716" y="30011"/>
                  </a:cubicBezTo>
                  <a:lnTo>
                    <a:pt x="844716" y="837292"/>
                  </a:lnTo>
                  <a:cubicBezTo>
                    <a:pt x="844716" y="845251"/>
                    <a:pt x="841554" y="852884"/>
                    <a:pt x="835926" y="858513"/>
                  </a:cubicBezTo>
                  <a:cubicBezTo>
                    <a:pt x="830298" y="864141"/>
                    <a:pt x="822664" y="867303"/>
                    <a:pt x="814705" y="867303"/>
                  </a:cubicBezTo>
                  <a:lnTo>
                    <a:pt x="30011" y="867303"/>
                  </a:lnTo>
                  <a:cubicBezTo>
                    <a:pt x="22052" y="867303"/>
                    <a:pt x="14418" y="864141"/>
                    <a:pt x="8790" y="858513"/>
                  </a:cubicBezTo>
                  <a:cubicBezTo>
                    <a:pt x="3162" y="852884"/>
                    <a:pt x="0" y="845251"/>
                    <a:pt x="0" y="837292"/>
                  </a:cubicBezTo>
                  <a:lnTo>
                    <a:pt x="0" y="30011"/>
                  </a:lnTo>
                  <a:cubicBezTo>
                    <a:pt x="0" y="22052"/>
                    <a:pt x="3162" y="14418"/>
                    <a:pt x="8790" y="8790"/>
                  </a:cubicBezTo>
                  <a:cubicBezTo>
                    <a:pt x="14418" y="3162"/>
                    <a:pt x="22052" y="0"/>
                    <a:pt x="30011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44716" cy="92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8389" y="4581188"/>
            <a:ext cx="3095625" cy="3178398"/>
            <a:chOff x="0" y="0"/>
            <a:chExt cx="844716" cy="8673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4716" cy="867303"/>
            </a:xfrm>
            <a:custGeom>
              <a:avLst/>
              <a:gdLst/>
              <a:ahLst/>
              <a:cxnLst/>
              <a:rect r="r" b="b" t="t" l="l"/>
              <a:pathLst>
                <a:path h="867303" w="844716">
                  <a:moveTo>
                    <a:pt x="30011" y="0"/>
                  </a:moveTo>
                  <a:lnTo>
                    <a:pt x="814705" y="0"/>
                  </a:lnTo>
                  <a:cubicBezTo>
                    <a:pt x="822664" y="0"/>
                    <a:pt x="830298" y="3162"/>
                    <a:pt x="835926" y="8790"/>
                  </a:cubicBezTo>
                  <a:cubicBezTo>
                    <a:pt x="841554" y="14418"/>
                    <a:pt x="844716" y="22052"/>
                    <a:pt x="844716" y="30011"/>
                  </a:cubicBezTo>
                  <a:lnTo>
                    <a:pt x="844716" y="837292"/>
                  </a:lnTo>
                  <a:cubicBezTo>
                    <a:pt x="844716" y="845251"/>
                    <a:pt x="841554" y="852884"/>
                    <a:pt x="835926" y="858513"/>
                  </a:cubicBezTo>
                  <a:cubicBezTo>
                    <a:pt x="830298" y="864141"/>
                    <a:pt x="822664" y="867303"/>
                    <a:pt x="814705" y="867303"/>
                  </a:cubicBezTo>
                  <a:lnTo>
                    <a:pt x="30011" y="867303"/>
                  </a:lnTo>
                  <a:cubicBezTo>
                    <a:pt x="22052" y="867303"/>
                    <a:pt x="14418" y="864141"/>
                    <a:pt x="8790" y="858513"/>
                  </a:cubicBezTo>
                  <a:cubicBezTo>
                    <a:pt x="3162" y="852884"/>
                    <a:pt x="0" y="845251"/>
                    <a:pt x="0" y="837292"/>
                  </a:cubicBezTo>
                  <a:lnTo>
                    <a:pt x="0" y="30011"/>
                  </a:lnTo>
                  <a:cubicBezTo>
                    <a:pt x="0" y="22052"/>
                    <a:pt x="3162" y="14418"/>
                    <a:pt x="8790" y="8790"/>
                  </a:cubicBezTo>
                  <a:cubicBezTo>
                    <a:pt x="14418" y="3162"/>
                    <a:pt x="22052" y="0"/>
                    <a:pt x="30011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44716" cy="92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7014" y="3824720"/>
            <a:ext cx="2654268" cy="2832210"/>
            <a:chOff x="0" y="0"/>
            <a:chExt cx="724281" cy="7728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281" cy="772837"/>
            </a:xfrm>
            <a:custGeom>
              <a:avLst/>
              <a:gdLst/>
              <a:ahLst/>
              <a:cxnLst/>
              <a:rect r="r" b="b" t="t" l="l"/>
              <a:pathLst>
                <a:path h="772837" w="724281">
                  <a:moveTo>
                    <a:pt x="35001" y="0"/>
                  </a:moveTo>
                  <a:lnTo>
                    <a:pt x="689280" y="0"/>
                  </a:lnTo>
                  <a:cubicBezTo>
                    <a:pt x="698563" y="0"/>
                    <a:pt x="707465" y="3688"/>
                    <a:pt x="714030" y="10252"/>
                  </a:cubicBezTo>
                  <a:cubicBezTo>
                    <a:pt x="720594" y="16816"/>
                    <a:pt x="724281" y="25718"/>
                    <a:pt x="724281" y="35001"/>
                  </a:cubicBezTo>
                  <a:lnTo>
                    <a:pt x="724281" y="737836"/>
                  </a:lnTo>
                  <a:cubicBezTo>
                    <a:pt x="724281" y="757166"/>
                    <a:pt x="708611" y="772837"/>
                    <a:pt x="689280" y="772837"/>
                  </a:cubicBezTo>
                  <a:lnTo>
                    <a:pt x="35001" y="772837"/>
                  </a:lnTo>
                  <a:cubicBezTo>
                    <a:pt x="15671" y="772837"/>
                    <a:pt x="0" y="757166"/>
                    <a:pt x="0" y="737836"/>
                  </a:cubicBezTo>
                  <a:lnTo>
                    <a:pt x="0" y="35001"/>
                  </a:lnTo>
                  <a:cubicBezTo>
                    <a:pt x="0" y="15671"/>
                    <a:pt x="15671" y="0"/>
                    <a:pt x="35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24281" cy="82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51940" y="3824720"/>
            <a:ext cx="2654268" cy="2832210"/>
            <a:chOff x="0" y="0"/>
            <a:chExt cx="724281" cy="772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281" cy="772837"/>
            </a:xfrm>
            <a:custGeom>
              <a:avLst/>
              <a:gdLst/>
              <a:ahLst/>
              <a:cxnLst/>
              <a:rect r="r" b="b" t="t" l="l"/>
              <a:pathLst>
                <a:path h="772837" w="724281">
                  <a:moveTo>
                    <a:pt x="35001" y="0"/>
                  </a:moveTo>
                  <a:lnTo>
                    <a:pt x="689280" y="0"/>
                  </a:lnTo>
                  <a:cubicBezTo>
                    <a:pt x="698563" y="0"/>
                    <a:pt x="707465" y="3688"/>
                    <a:pt x="714030" y="10252"/>
                  </a:cubicBezTo>
                  <a:cubicBezTo>
                    <a:pt x="720594" y="16816"/>
                    <a:pt x="724281" y="25718"/>
                    <a:pt x="724281" y="35001"/>
                  </a:cubicBezTo>
                  <a:lnTo>
                    <a:pt x="724281" y="737836"/>
                  </a:lnTo>
                  <a:cubicBezTo>
                    <a:pt x="724281" y="757166"/>
                    <a:pt x="708611" y="772837"/>
                    <a:pt x="689280" y="772837"/>
                  </a:cubicBezTo>
                  <a:lnTo>
                    <a:pt x="35001" y="772837"/>
                  </a:lnTo>
                  <a:cubicBezTo>
                    <a:pt x="15671" y="772837"/>
                    <a:pt x="0" y="757166"/>
                    <a:pt x="0" y="737836"/>
                  </a:cubicBezTo>
                  <a:lnTo>
                    <a:pt x="0" y="35001"/>
                  </a:lnTo>
                  <a:cubicBezTo>
                    <a:pt x="0" y="15671"/>
                    <a:pt x="15671" y="0"/>
                    <a:pt x="35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24281" cy="82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91914" y="4051611"/>
            <a:ext cx="774320" cy="677178"/>
          </a:xfrm>
          <a:custGeom>
            <a:avLst/>
            <a:gdLst/>
            <a:ahLst/>
            <a:cxnLst/>
            <a:rect r="r" b="b" t="t" l="l"/>
            <a:pathLst>
              <a:path h="677178" w="774320">
                <a:moveTo>
                  <a:pt x="0" y="0"/>
                </a:moveTo>
                <a:lnTo>
                  <a:pt x="774320" y="0"/>
                </a:lnTo>
                <a:lnTo>
                  <a:pt x="774320" y="677178"/>
                </a:lnTo>
                <a:lnTo>
                  <a:pt x="0" y="67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583315" y="4581188"/>
            <a:ext cx="3095625" cy="3178398"/>
            <a:chOff x="0" y="0"/>
            <a:chExt cx="844716" cy="8673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4716" cy="867303"/>
            </a:xfrm>
            <a:custGeom>
              <a:avLst/>
              <a:gdLst/>
              <a:ahLst/>
              <a:cxnLst/>
              <a:rect r="r" b="b" t="t" l="l"/>
              <a:pathLst>
                <a:path h="867303" w="844716">
                  <a:moveTo>
                    <a:pt x="30011" y="0"/>
                  </a:moveTo>
                  <a:lnTo>
                    <a:pt x="814705" y="0"/>
                  </a:lnTo>
                  <a:cubicBezTo>
                    <a:pt x="822664" y="0"/>
                    <a:pt x="830298" y="3162"/>
                    <a:pt x="835926" y="8790"/>
                  </a:cubicBezTo>
                  <a:cubicBezTo>
                    <a:pt x="841554" y="14418"/>
                    <a:pt x="844716" y="22052"/>
                    <a:pt x="844716" y="30011"/>
                  </a:cubicBezTo>
                  <a:lnTo>
                    <a:pt x="844716" y="837292"/>
                  </a:lnTo>
                  <a:cubicBezTo>
                    <a:pt x="844716" y="845251"/>
                    <a:pt x="841554" y="852884"/>
                    <a:pt x="835926" y="858513"/>
                  </a:cubicBezTo>
                  <a:cubicBezTo>
                    <a:pt x="830298" y="864141"/>
                    <a:pt x="822664" y="867303"/>
                    <a:pt x="814705" y="867303"/>
                  </a:cubicBezTo>
                  <a:lnTo>
                    <a:pt x="30011" y="867303"/>
                  </a:lnTo>
                  <a:cubicBezTo>
                    <a:pt x="22052" y="867303"/>
                    <a:pt x="14418" y="864141"/>
                    <a:pt x="8790" y="858513"/>
                  </a:cubicBezTo>
                  <a:cubicBezTo>
                    <a:pt x="3162" y="852884"/>
                    <a:pt x="0" y="845251"/>
                    <a:pt x="0" y="837292"/>
                  </a:cubicBezTo>
                  <a:lnTo>
                    <a:pt x="0" y="30011"/>
                  </a:lnTo>
                  <a:cubicBezTo>
                    <a:pt x="0" y="22052"/>
                    <a:pt x="3162" y="14418"/>
                    <a:pt x="8790" y="8790"/>
                  </a:cubicBezTo>
                  <a:cubicBezTo>
                    <a:pt x="14418" y="3162"/>
                    <a:pt x="22052" y="0"/>
                    <a:pt x="30011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44716" cy="92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16866" y="3824720"/>
            <a:ext cx="2654268" cy="2832210"/>
            <a:chOff x="0" y="0"/>
            <a:chExt cx="724281" cy="7728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4281" cy="772837"/>
            </a:xfrm>
            <a:custGeom>
              <a:avLst/>
              <a:gdLst/>
              <a:ahLst/>
              <a:cxnLst/>
              <a:rect r="r" b="b" t="t" l="l"/>
              <a:pathLst>
                <a:path h="772837" w="724281">
                  <a:moveTo>
                    <a:pt x="35001" y="0"/>
                  </a:moveTo>
                  <a:lnTo>
                    <a:pt x="689280" y="0"/>
                  </a:lnTo>
                  <a:cubicBezTo>
                    <a:pt x="698563" y="0"/>
                    <a:pt x="707465" y="3688"/>
                    <a:pt x="714030" y="10252"/>
                  </a:cubicBezTo>
                  <a:cubicBezTo>
                    <a:pt x="720594" y="16816"/>
                    <a:pt x="724281" y="25718"/>
                    <a:pt x="724281" y="35001"/>
                  </a:cubicBezTo>
                  <a:lnTo>
                    <a:pt x="724281" y="737836"/>
                  </a:lnTo>
                  <a:cubicBezTo>
                    <a:pt x="724281" y="757166"/>
                    <a:pt x="708611" y="772837"/>
                    <a:pt x="689280" y="772837"/>
                  </a:cubicBezTo>
                  <a:lnTo>
                    <a:pt x="35001" y="772837"/>
                  </a:lnTo>
                  <a:cubicBezTo>
                    <a:pt x="15671" y="772837"/>
                    <a:pt x="0" y="757166"/>
                    <a:pt x="0" y="737836"/>
                  </a:cubicBezTo>
                  <a:lnTo>
                    <a:pt x="0" y="35001"/>
                  </a:lnTo>
                  <a:cubicBezTo>
                    <a:pt x="0" y="15671"/>
                    <a:pt x="15671" y="0"/>
                    <a:pt x="35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24281" cy="82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48241" y="4581188"/>
            <a:ext cx="3095625" cy="3178398"/>
            <a:chOff x="0" y="0"/>
            <a:chExt cx="844716" cy="8673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4716" cy="867303"/>
            </a:xfrm>
            <a:custGeom>
              <a:avLst/>
              <a:gdLst/>
              <a:ahLst/>
              <a:cxnLst/>
              <a:rect r="r" b="b" t="t" l="l"/>
              <a:pathLst>
                <a:path h="867303" w="844716">
                  <a:moveTo>
                    <a:pt x="30011" y="0"/>
                  </a:moveTo>
                  <a:lnTo>
                    <a:pt x="814705" y="0"/>
                  </a:lnTo>
                  <a:cubicBezTo>
                    <a:pt x="822664" y="0"/>
                    <a:pt x="830298" y="3162"/>
                    <a:pt x="835926" y="8790"/>
                  </a:cubicBezTo>
                  <a:cubicBezTo>
                    <a:pt x="841554" y="14418"/>
                    <a:pt x="844716" y="22052"/>
                    <a:pt x="844716" y="30011"/>
                  </a:cubicBezTo>
                  <a:lnTo>
                    <a:pt x="844716" y="837292"/>
                  </a:lnTo>
                  <a:cubicBezTo>
                    <a:pt x="844716" y="845251"/>
                    <a:pt x="841554" y="852884"/>
                    <a:pt x="835926" y="858513"/>
                  </a:cubicBezTo>
                  <a:cubicBezTo>
                    <a:pt x="830298" y="864141"/>
                    <a:pt x="822664" y="867303"/>
                    <a:pt x="814705" y="867303"/>
                  </a:cubicBezTo>
                  <a:lnTo>
                    <a:pt x="30011" y="867303"/>
                  </a:lnTo>
                  <a:cubicBezTo>
                    <a:pt x="22052" y="867303"/>
                    <a:pt x="14418" y="864141"/>
                    <a:pt x="8790" y="858513"/>
                  </a:cubicBezTo>
                  <a:cubicBezTo>
                    <a:pt x="3162" y="852884"/>
                    <a:pt x="0" y="845251"/>
                    <a:pt x="0" y="837292"/>
                  </a:cubicBezTo>
                  <a:lnTo>
                    <a:pt x="0" y="30011"/>
                  </a:lnTo>
                  <a:cubicBezTo>
                    <a:pt x="0" y="22052"/>
                    <a:pt x="3162" y="14418"/>
                    <a:pt x="8790" y="8790"/>
                  </a:cubicBezTo>
                  <a:cubicBezTo>
                    <a:pt x="14418" y="3162"/>
                    <a:pt x="22052" y="0"/>
                    <a:pt x="30011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44716" cy="92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81792" y="3824720"/>
            <a:ext cx="2654268" cy="2832210"/>
            <a:chOff x="0" y="0"/>
            <a:chExt cx="724281" cy="7728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4281" cy="772837"/>
            </a:xfrm>
            <a:custGeom>
              <a:avLst/>
              <a:gdLst/>
              <a:ahLst/>
              <a:cxnLst/>
              <a:rect r="r" b="b" t="t" l="l"/>
              <a:pathLst>
                <a:path h="772837" w="724281">
                  <a:moveTo>
                    <a:pt x="35001" y="0"/>
                  </a:moveTo>
                  <a:lnTo>
                    <a:pt x="689280" y="0"/>
                  </a:lnTo>
                  <a:cubicBezTo>
                    <a:pt x="698563" y="0"/>
                    <a:pt x="707465" y="3688"/>
                    <a:pt x="714030" y="10252"/>
                  </a:cubicBezTo>
                  <a:cubicBezTo>
                    <a:pt x="720594" y="16816"/>
                    <a:pt x="724281" y="25718"/>
                    <a:pt x="724281" y="35001"/>
                  </a:cubicBezTo>
                  <a:lnTo>
                    <a:pt x="724281" y="737836"/>
                  </a:lnTo>
                  <a:cubicBezTo>
                    <a:pt x="724281" y="757166"/>
                    <a:pt x="708611" y="772837"/>
                    <a:pt x="689280" y="772837"/>
                  </a:cubicBezTo>
                  <a:lnTo>
                    <a:pt x="35001" y="772837"/>
                  </a:lnTo>
                  <a:cubicBezTo>
                    <a:pt x="15671" y="772837"/>
                    <a:pt x="0" y="757166"/>
                    <a:pt x="0" y="737836"/>
                  </a:cubicBezTo>
                  <a:lnTo>
                    <a:pt x="0" y="35001"/>
                  </a:lnTo>
                  <a:cubicBezTo>
                    <a:pt x="0" y="15671"/>
                    <a:pt x="15671" y="0"/>
                    <a:pt x="35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24281" cy="82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13167" y="4581188"/>
            <a:ext cx="3095625" cy="3178398"/>
            <a:chOff x="0" y="0"/>
            <a:chExt cx="844716" cy="8673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4716" cy="867303"/>
            </a:xfrm>
            <a:custGeom>
              <a:avLst/>
              <a:gdLst/>
              <a:ahLst/>
              <a:cxnLst/>
              <a:rect r="r" b="b" t="t" l="l"/>
              <a:pathLst>
                <a:path h="867303" w="844716">
                  <a:moveTo>
                    <a:pt x="30011" y="0"/>
                  </a:moveTo>
                  <a:lnTo>
                    <a:pt x="814705" y="0"/>
                  </a:lnTo>
                  <a:cubicBezTo>
                    <a:pt x="822664" y="0"/>
                    <a:pt x="830298" y="3162"/>
                    <a:pt x="835926" y="8790"/>
                  </a:cubicBezTo>
                  <a:cubicBezTo>
                    <a:pt x="841554" y="14418"/>
                    <a:pt x="844716" y="22052"/>
                    <a:pt x="844716" y="30011"/>
                  </a:cubicBezTo>
                  <a:lnTo>
                    <a:pt x="844716" y="837292"/>
                  </a:lnTo>
                  <a:cubicBezTo>
                    <a:pt x="844716" y="845251"/>
                    <a:pt x="841554" y="852884"/>
                    <a:pt x="835926" y="858513"/>
                  </a:cubicBezTo>
                  <a:cubicBezTo>
                    <a:pt x="830298" y="864141"/>
                    <a:pt x="822664" y="867303"/>
                    <a:pt x="814705" y="867303"/>
                  </a:cubicBezTo>
                  <a:lnTo>
                    <a:pt x="30011" y="867303"/>
                  </a:lnTo>
                  <a:cubicBezTo>
                    <a:pt x="22052" y="867303"/>
                    <a:pt x="14418" y="864141"/>
                    <a:pt x="8790" y="858513"/>
                  </a:cubicBezTo>
                  <a:cubicBezTo>
                    <a:pt x="3162" y="852884"/>
                    <a:pt x="0" y="845251"/>
                    <a:pt x="0" y="837292"/>
                  </a:cubicBezTo>
                  <a:lnTo>
                    <a:pt x="0" y="30011"/>
                  </a:lnTo>
                  <a:cubicBezTo>
                    <a:pt x="0" y="22052"/>
                    <a:pt x="3162" y="14418"/>
                    <a:pt x="8790" y="8790"/>
                  </a:cubicBezTo>
                  <a:cubicBezTo>
                    <a:pt x="14418" y="3162"/>
                    <a:pt x="22052" y="0"/>
                    <a:pt x="30011" y="0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44716" cy="92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346718" y="3824720"/>
            <a:ext cx="2654268" cy="2832210"/>
            <a:chOff x="0" y="0"/>
            <a:chExt cx="724281" cy="7728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4281" cy="772837"/>
            </a:xfrm>
            <a:custGeom>
              <a:avLst/>
              <a:gdLst/>
              <a:ahLst/>
              <a:cxnLst/>
              <a:rect r="r" b="b" t="t" l="l"/>
              <a:pathLst>
                <a:path h="772837" w="724281">
                  <a:moveTo>
                    <a:pt x="35001" y="0"/>
                  </a:moveTo>
                  <a:lnTo>
                    <a:pt x="689280" y="0"/>
                  </a:lnTo>
                  <a:cubicBezTo>
                    <a:pt x="698563" y="0"/>
                    <a:pt x="707465" y="3688"/>
                    <a:pt x="714030" y="10252"/>
                  </a:cubicBezTo>
                  <a:cubicBezTo>
                    <a:pt x="720594" y="16816"/>
                    <a:pt x="724281" y="25718"/>
                    <a:pt x="724281" y="35001"/>
                  </a:cubicBezTo>
                  <a:lnTo>
                    <a:pt x="724281" y="737836"/>
                  </a:lnTo>
                  <a:cubicBezTo>
                    <a:pt x="724281" y="757166"/>
                    <a:pt x="708611" y="772837"/>
                    <a:pt x="689280" y="772837"/>
                  </a:cubicBezTo>
                  <a:lnTo>
                    <a:pt x="35001" y="772837"/>
                  </a:lnTo>
                  <a:cubicBezTo>
                    <a:pt x="15671" y="772837"/>
                    <a:pt x="0" y="757166"/>
                    <a:pt x="0" y="737836"/>
                  </a:cubicBezTo>
                  <a:lnTo>
                    <a:pt x="0" y="35001"/>
                  </a:lnTo>
                  <a:cubicBezTo>
                    <a:pt x="0" y="15671"/>
                    <a:pt x="15671" y="0"/>
                    <a:pt x="35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24281" cy="82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028700" y="8780123"/>
            <a:ext cx="16230600" cy="0"/>
          </a:xfrm>
          <a:prstGeom prst="line">
            <a:avLst/>
          </a:prstGeom>
          <a:ln cap="rnd" w="295275">
            <a:solidFill>
              <a:srgbClr val="E4E4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2413587" y="8592435"/>
            <a:ext cx="375377" cy="37537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46983" y="8592435"/>
            <a:ext cx="375377" cy="37537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24781" y="8592435"/>
            <a:ext cx="375377" cy="375377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2595098" y="7759586"/>
            <a:ext cx="0" cy="839210"/>
          </a:xfrm>
          <a:prstGeom prst="line">
            <a:avLst/>
          </a:prstGeom>
          <a:ln cap="flat" w="38100">
            <a:solidFill>
              <a:srgbClr val="3C3C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5847151" y="7837544"/>
            <a:ext cx="0" cy="839210"/>
          </a:xfrm>
          <a:prstGeom prst="line">
            <a:avLst/>
          </a:prstGeom>
          <a:ln cap="flat" w="38100">
            <a:solidFill>
              <a:srgbClr val="3C3C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5659463" y="8592435"/>
            <a:ext cx="375377" cy="37537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>
            <a:off x="9131127" y="7837544"/>
            <a:ext cx="0" cy="839210"/>
          </a:xfrm>
          <a:prstGeom prst="line">
            <a:avLst/>
          </a:prstGeom>
          <a:ln cap="flat" w="38100">
            <a:solidFill>
              <a:srgbClr val="3C3C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8943439" y="8592435"/>
            <a:ext cx="375377" cy="37537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>
            <a:off x="12408926" y="7759586"/>
            <a:ext cx="0" cy="839210"/>
          </a:xfrm>
          <a:prstGeom prst="line">
            <a:avLst/>
          </a:prstGeom>
          <a:ln cap="flat" w="38100">
            <a:solidFill>
              <a:srgbClr val="3C3C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15689824" y="7759586"/>
            <a:ext cx="0" cy="839210"/>
          </a:xfrm>
          <a:prstGeom prst="line">
            <a:avLst/>
          </a:prstGeom>
          <a:ln cap="flat" w="38100">
            <a:solidFill>
              <a:srgbClr val="3C3C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5198872" y="4095094"/>
            <a:ext cx="981904" cy="729779"/>
          </a:xfrm>
          <a:custGeom>
            <a:avLst/>
            <a:gdLst/>
            <a:ahLst/>
            <a:cxnLst/>
            <a:rect r="r" b="b" t="t" l="l"/>
            <a:pathLst>
              <a:path h="729779" w="981904">
                <a:moveTo>
                  <a:pt x="0" y="0"/>
                </a:moveTo>
                <a:lnTo>
                  <a:pt x="981904" y="0"/>
                </a:lnTo>
                <a:lnTo>
                  <a:pt x="981904" y="729779"/>
                </a:lnTo>
                <a:lnTo>
                  <a:pt x="0" y="72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8694001" y="3983221"/>
            <a:ext cx="899999" cy="877090"/>
          </a:xfrm>
          <a:custGeom>
            <a:avLst/>
            <a:gdLst/>
            <a:ahLst/>
            <a:cxnLst/>
            <a:rect r="r" b="b" t="t" l="l"/>
            <a:pathLst>
              <a:path h="877090" w="899999">
                <a:moveTo>
                  <a:pt x="0" y="0"/>
                </a:moveTo>
                <a:lnTo>
                  <a:pt x="899998" y="0"/>
                </a:lnTo>
                <a:lnTo>
                  <a:pt x="899998" y="877089"/>
                </a:lnTo>
                <a:lnTo>
                  <a:pt x="0" y="877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11888615" y="3936339"/>
            <a:ext cx="944712" cy="944712"/>
          </a:xfrm>
          <a:custGeom>
            <a:avLst/>
            <a:gdLst/>
            <a:ahLst/>
            <a:cxnLst/>
            <a:rect r="r" b="b" t="t" l="l"/>
            <a:pathLst>
              <a:path h="944712" w="944712">
                <a:moveTo>
                  <a:pt x="0" y="0"/>
                </a:moveTo>
                <a:lnTo>
                  <a:pt x="944712" y="0"/>
                </a:lnTo>
                <a:lnTo>
                  <a:pt x="944712" y="944712"/>
                </a:lnTo>
                <a:lnTo>
                  <a:pt x="0" y="9447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2257756" y="4095094"/>
            <a:ext cx="712784" cy="765216"/>
          </a:xfrm>
          <a:custGeom>
            <a:avLst/>
            <a:gdLst/>
            <a:ahLst/>
            <a:cxnLst/>
            <a:rect r="r" b="b" t="t" l="l"/>
            <a:pathLst>
              <a:path h="765216" w="712784">
                <a:moveTo>
                  <a:pt x="0" y="0"/>
                </a:moveTo>
                <a:lnTo>
                  <a:pt x="712784" y="0"/>
                </a:lnTo>
                <a:lnTo>
                  <a:pt x="712784" y="765216"/>
                </a:lnTo>
                <a:lnTo>
                  <a:pt x="0" y="765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4051176" y="885825"/>
            <a:ext cx="10185648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 STRATEGY ROADMAP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50863" y="6746854"/>
            <a:ext cx="192657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Market Research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15789" y="6746854"/>
            <a:ext cx="192657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Audience Targeting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82088" y="4986798"/>
            <a:ext cx="223837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Collect data to understand the target market and consumer preferences.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747014" y="4986798"/>
            <a:ext cx="223837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Identify key audience segments for a more effective marketing campaign.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180715" y="6746854"/>
            <a:ext cx="192657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Campaign Development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011940" y="4986798"/>
            <a:ext cx="223837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Design a marketing strategy based on research insights.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445641" y="6746854"/>
            <a:ext cx="192657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Campaign Execution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276866" y="4986798"/>
            <a:ext cx="223837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Launch the campaign through the most relevant marketing channels.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10567" y="6746854"/>
            <a:ext cx="192657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Performance Analysis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541792" y="4986798"/>
            <a:ext cx="223837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Evaluate the campaign to measure success and make adjustments.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5992" y="3947523"/>
            <a:ext cx="5310521" cy="2474413"/>
            <a:chOff x="0" y="0"/>
            <a:chExt cx="87220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6166" cy="406400"/>
            </a:xfrm>
            <a:custGeom>
              <a:avLst/>
              <a:gdLst/>
              <a:ahLst/>
              <a:cxnLst/>
              <a:rect r="r" b="b" t="t" l="l"/>
              <a:pathLst>
                <a:path h="406400" w="866166">
                  <a:moveTo>
                    <a:pt x="654427" y="0"/>
                  </a:moveTo>
                  <a:lnTo>
                    <a:pt x="14578" y="0"/>
                  </a:lnTo>
                  <a:cubicBezTo>
                    <a:pt x="10712" y="0"/>
                    <a:pt x="7004" y="1536"/>
                    <a:pt x="4270" y="4270"/>
                  </a:cubicBezTo>
                  <a:cubicBezTo>
                    <a:pt x="1536" y="7004"/>
                    <a:pt x="0" y="10712"/>
                    <a:pt x="0" y="14578"/>
                  </a:cubicBezTo>
                  <a:lnTo>
                    <a:pt x="0" y="391822"/>
                  </a:lnTo>
                  <a:cubicBezTo>
                    <a:pt x="0" y="395688"/>
                    <a:pt x="1536" y="399396"/>
                    <a:pt x="4270" y="402130"/>
                  </a:cubicBezTo>
                  <a:cubicBezTo>
                    <a:pt x="7004" y="404864"/>
                    <a:pt x="10712" y="406400"/>
                    <a:pt x="14578" y="406400"/>
                  </a:cubicBezTo>
                  <a:lnTo>
                    <a:pt x="654427" y="406400"/>
                  </a:lnTo>
                  <a:cubicBezTo>
                    <a:pt x="663761" y="406400"/>
                    <a:pt x="672713" y="402692"/>
                    <a:pt x="679314" y="396091"/>
                  </a:cubicBezTo>
                  <a:lnTo>
                    <a:pt x="861897" y="213509"/>
                  </a:lnTo>
                  <a:cubicBezTo>
                    <a:pt x="867590" y="207815"/>
                    <a:pt x="867590" y="198585"/>
                    <a:pt x="861897" y="192891"/>
                  </a:cubicBezTo>
                  <a:lnTo>
                    <a:pt x="679314" y="10309"/>
                  </a:lnTo>
                  <a:cubicBezTo>
                    <a:pt x="672713" y="3708"/>
                    <a:pt x="663761" y="0"/>
                    <a:pt x="654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95992" y="6688637"/>
            <a:ext cx="5310521" cy="2474413"/>
            <a:chOff x="0" y="0"/>
            <a:chExt cx="872205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6166" cy="406400"/>
            </a:xfrm>
            <a:custGeom>
              <a:avLst/>
              <a:gdLst/>
              <a:ahLst/>
              <a:cxnLst/>
              <a:rect r="r" b="b" t="t" l="l"/>
              <a:pathLst>
                <a:path h="406400" w="866166">
                  <a:moveTo>
                    <a:pt x="654427" y="0"/>
                  </a:moveTo>
                  <a:lnTo>
                    <a:pt x="14578" y="0"/>
                  </a:lnTo>
                  <a:cubicBezTo>
                    <a:pt x="10712" y="0"/>
                    <a:pt x="7004" y="1536"/>
                    <a:pt x="4270" y="4270"/>
                  </a:cubicBezTo>
                  <a:cubicBezTo>
                    <a:pt x="1536" y="7004"/>
                    <a:pt x="0" y="10712"/>
                    <a:pt x="0" y="14578"/>
                  </a:cubicBezTo>
                  <a:lnTo>
                    <a:pt x="0" y="391822"/>
                  </a:lnTo>
                  <a:cubicBezTo>
                    <a:pt x="0" y="395688"/>
                    <a:pt x="1536" y="399396"/>
                    <a:pt x="4270" y="402130"/>
                  </a:cubicBezTo>
                  <a:cubicBezTo>
                    <a:pt x="7004" y="404864"/>
                    <a:pt x="10712" y="406400"/>
                    <a:pt x="14578" y="406400"/>
                  </a:cubicBezTo>
                  <a:lnTo>
                    <a:pt x="654427" y="406400"/>
                  </a:lnTo>
                  <a:cubicBezTo>
                    <a:pt x="663761" y="406400"/>
                    <a:pt x="672713" y="402692"/>
                    <a:pt x="679314" y="396091"/>
                  </a:cubicBezTo>
                  <a:lnTo>
                    <a:pt x="861897" y="213509"/>
                  </a:lnTo>
                  <a:cubicBezTo>
                    <a:pt x="867590" y="207815"/>
                    <a:pt x="867590" y="198585"/>
                    <a:pt x="861897" y="192891"/>
                  </a:cubicBezTo>
                  <a:lnTo>
                    <a:pt x="679314" y="10309"/>
                  </a:lnTo>
                  <a:cubicBezTo>
                    <a:pt x="672713" y="3708"/>
                    <a:pt x="663761" y="0"/>
                    <a:pt x="654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9098435" y="3947523"/>
            <a:ext cx="5310521" cy="2474413"/>
            <a:chOff x="0" y="0"/>
            <a:chExt cx="872205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166" cy="406400"/>
            </a:xfrm>
            <a:custGeom>
              <a:avLst/>
              <a:gdLst/>
              <a:ahLst/>
              <a:cxnLst/>
              <a:rect r="r" b="b" t="t" l="l"/>
              <a:pathLst>
                <a:path h="406400" w="866166">
                  <a:moveTo>
                    <a:pt x="654427" y="0"/>
                  </a:moveTo>
                  <a:lnTo>
                    <a:pt x="14578" y="0"/>
                  </a:lnTo>
                  <a:cubicBezTo>
                    <a:pt x="10712" y="0"/>
                    <a:pt x="7004" y="1536"/>
                    <a:pt x="4270" y="4270"/>
                  </a:cubicBezTo>
                  <a:cubicBezTo>
                    <a:pt x="1536" y="7004"/>
                    <a:pt x="0" y="10712"/>
                    <a:pt x="0" y="14578"/>
                  </a:cubicBezTo>
                  <a:lnTo>
                    <a:pt x="0" y="391822"/>
                  </a:lnTo>
                  <a:cubicBezTo>
                    <a:pt x="0" y="395688"/>
                    <a:pt x="1536" y="399396"/>
                    <a:pt x="4270" y="402130"/>
                  </a:cubicBezTo>
                  <a:cubicBezTo>
                    <a:pt x="7004" y="404864"/>
                    <a:pt x="10712" y="406400"/>
                    <a:pt x="14578" y="406400"/>
                  </a:cubicBezTo>
                  <a:lnTo>
                    <a:pt x="654427" y="406400"/>
                  </a:lnTo>
                  <a:cubicBezTo>
                    <a:pt x="663761" y="406400"/>
                    <a:pt x="672713" y="402692"/>
                    <a:pt x="679314" y="396091"/>
                  </a:cubicBezTo>
                  <a:lnTo>
                    <a:pt x="861897" y="213509"/>
                  </a:lnTo>
                  <a:cubicBezTo>
                    <a:pt x="867590" y="207815"/>
                    <a:pt x="867590" y="198585"/>
                    <a:pt x="861897" y="192891"/>
                  </a:cubicBezTo>
                  <a:lnTo>
                    <a:pt x="679314" y="10309"/>
                  </a:lnTo>
                  <a:cubicBezTo>
                    <a:pt x="672713" y="3708"/>
                    <a:pt x="663761" y="0"/>
                    <a:pt x="654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8435" y="6688637"/>
            <a:ext cx="5310521" cy="2474413"/>
            <a:chOff x="0" y="0"/>
            <a:chExt cx="87220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6166" cy="406400"/>
            </a:xfrm>
            <a:custGeom>
              <a:avLst/>
              <a:gdLst/>
              <a:ahLst/>
              <a:cxnLst/>
              <a:rect r="r" b="b" t="t" l="l"/>
              <a:pathLst>
                <a:path h="406400" w="866166">
                  <a:moveTo>
                    <a:pt x="654427" y="0"/>
                  </a:moveTo>
                  <a:lnTo>
                    <a:pt x="14578" y="0"/>
                  </a:lnTo>
                  <a:cubicBezTo>
                    <a:pt x="10712" y="0"/>
                    <a:pt x="7004" y="1536"/>
                    <a:pt x="4270" y="4270"/>
                  </a:cubicBezTo>
                  <a:cubicBezTo>
                    <a:pt x="1536" y="7004"/>
                    <a:pt x="0" y="10712"/>
                    <a:pt x="0" y="14578"/>
                  </a:cubicBezTo>
                  <a:lnTo>
                    <a:pt x="0" y="391822"/>
                  </a:lnTo>
                  <a:cubicBezTo>
                    <a:pt x="0" y="395688"/>
                    <a:pt x="1536" y="399396"/>
                    <a:pt x="4270" y="402130"/>
                  </a:cubicBezTo>
                  <a:cubicBezTo>
                    <a:pt x="7004" y="404864"/>
                    <a:pt x="10712" y="406400"/>
                    <a:pt x="14578" y="406400"/>
                  </a:cubicBezTo>
                  <a:lnTo>
                    <a:pt x="654427" y="406400"/>
                  </a:lnTo>
                  <a:cubicBezTo>
                    <a:pt x="663761" y="406400"/>
                    <a:pt x="672713" y="402692"/>
                    <a:pt x="679314" y="396091"/>
                  </a:cubicBezTo>
                  <a:lnTo>
                    <a:pt x="861897" y="213509"/>
                  </a:lnTo>
                  <a:cubicBezTo>
                    <a:pt x="867590" y="207815"/>
                    <a:pt x="867590" y="198585"/>
                    <a:pt x="861897" y="192891"/>
                  </a:cubicBezTo>
                  <a:lnTo>
                    <a:pt x="679314" y="10309"/>
                  </a:lnTo>
                  <a:cubicBezTo>
                    <a:pt x="672713" y="3708"/>
                    <a:pt x="663761" y="0"/>
                    <a:pt x="654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8100000">
            <a:off x="6451435" y="5204633"/>
            <a:ext cx="3021868" cy="1379969"/>
            <a:chOff x="0" y="0"/>
            <a:chExt cx="812800" cy="3711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6450" y="35780"/>
              <a:ext cx="699901" cy="335394"/>
            </a:xfrm>
            <a:custGeom>
              <a:avLst/>
              <a:gdLst/>
              <a:ahLst/>
              <a:cxnLst/>
              <a:rect r="r" b="b" t="t" l="l"/>
              <a:pathLst>
                <a:path h="335394" w="699901">
                  <a:moveTo>
                    <a:pt x="418052" y="26419"/>
                  </a:moveTo>
                  <a:lnTo>
                    <a:pt x="688248" y="273195"/>
                  </a:lnTo>
                  <a:cubicBezTo>
                    <a:pt x="699152" y="283154"/>
                    <a:pt x="702818" y="298788"/>
                    <a:pt x="697477" y="312555"/>
                  </a:cubicBezTo>
                  <a:cubicBezTo>
                    <a:pt x="692136" y="326322"/>
                    <a:pt x="678886" y="335394"/>
                    <a:pt x="664119" y="335394"/>
                  </a:cubicBezTo>
                  <a:lnTo>
                    <a:pt x="35781" y="335394"/>
                  </a:lnTo>
                  <a:cubicBezTo>
                    <a:pt x="21014" y="335394"/>
                    <a:pt x="7764" y="326322"/>
                    <a:pt x="2423" y="312555"/>
                  </a:cubicBezTo>
                  <a:cubicBezTo>
                    <a:pt x="-2918" y="298788"/>
                    <a:pt x="748" y="283154"/>
                    <a:pt x="11652" y="273195"/>
                  </a:cubicBezTo>
                  <a:lnTo>
                    <a:pt x="281848" y="26419"/>
                  </a:lnTo>
                  <a:cubicBezTo>
                    <a:pt x="320417" y="-8807"/>
                    <a:pt x="379483" y="-8807"/>
                    <a:pt x="418052" y="26419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8100000">
            <a:off x="7831332" y="5204633"/>
            <a:ext cx="3021868" cy="1379969"/>
            <a:chOff x="0" y="0"/>
            <a:chExt cx="812800" cy="3711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6450" y="35780"/>
              <a:ext cx="699901" cy="335394"/>
            </a:xfrm>
            <a:custGeom>
              <a:avLst/>
              <a:gdLst/>
              <a:ahLst/>
              <a:cxnLst/>
              <a:rect r="r" b="b" t="t" l="l"/>
              <a:pathLst>
                <a:path h="335394" w="699901">
                  <a:moveTo>
                    <a:pt x="418052" y="26419"/>
                  </a:moveTo>
                  <a:lnTo>
                    <a:pt x="688248" y="273195"/>
                  </a:lnTo>
                  <a:cubicBezTo>
                    <a:pt x="699152" y="283154"/>
                    <a:pt x="702818" y="298788"/>
                    <a:pt x="697477" y="312555"/>
                  </a:cubicBezTo>
                  <a:cubicBezTo>
                    <a:pt x="692136" y="326322"/>
                    <a:pt x="678886" y="335394"/>
                    <a:pt x="664119" y="335394"/>
                  </a:cubicBezTo>
                  <a:lnTo>
                    <a:pt x="35781" y="335394"/>
                  </a:lnTo>
                  <a:cubicBezTo>
                    <a:pt x="21014" y="335394"/>
                    <a:pt x="7764" y="326322"/>
                    <a:pt x="2423" y="312555"/>
                  </a:cubicBezTo>
                  <a:cubicBezTo>
                    <a:pt x="-2918" y="298788"/>
                    <a:pt x="748" y="283154"/>
                    <a:pt x="11652" y="273195"/>
                  </a:cubicBezTo>
                  <a:lnTo>
                    <a:pt x="281848" y="26419"/>
                  </a:lnTo>
                  <a:cubicBezTo>
                    <a:pt x="320417" y="-8807"/>
                    <a:pt x="379483" y="-8807"/>
                    <a:pt x="418052" y="26419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6451435" y="6584529"/>
            <a:ext cx="3021868" cy="1379969"/>
            <a:chOff x="0" y="0"/>
            <a:chExt cx="812800" cy="3711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6450" y="35780"/>
              <a:ext cx="699901" cy="335394"/>
            </a:xfrm>
            <a:custGeom>
              <a:avLst/>
              <a:gdLst/>
              <a:ahLst/>
              <a:cxnLst/>
              <a:rect r="r" b="b" t="t" l="l"/>
              <a:pathLst>
                <a:path h="335394" w="699901">
                  <a:moveTo>
                    <a:pt x="418052" y="26419"/>
                  </a:moveTo>
                  <a:lnTo>
                    <a:pt x="688248" y="273195"/>
                  </a:lnTo>
                  <a:cubicBezTo>
                    <a:pt x="699152" y="283154"/>
                    <a:pt x="702818" y="298788"/>
                    <a:pt x="697477" y="312555"/>
                  </a:cubicBezTo>
                  <a:cubicBezTo>
                    <a:pt x="692136" y="326322"/>
                    <a:pt x="678886" y="335394"/>
                    <a:pt x="664119" y="335394"/>
                  </a:cubicBezTo>
                  <a:lnTo>
                    <a:pt x="35781" y="335394"/>
                  </a:lnTo>
                  <a:cubicBezTo>
                    <a:pt x="21014" y="335394"/>
                    <a:pt x="7764" y="326322"/>
                    <a:pt x="2423" y="312555"/>
                  </a:cubicBezTo>
                  <a:cubicBezTo>
                    <a:pt x="-2918" y="298788"/>
                    <a:pt x="748" y="283154"/>
                    <a:pt x="11652" y="273195"/>
                  </a:cubicBezTo>
                  <a:lnTo>
                    <a:pt x="281848" y="26419"/>
                  </a:lnTo>
                  <a:cubicBezTo>
                    <a:pt x="320417" y="-8807"/>
                    <a:pt x="379483" y="-8807"/>
                    <a:pt x="418052" y="26419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2700000">
            <a:off x="7831332" y="6584529"/>
            <a:ext cx="3021868" cy="1379969"/>
            <a:chOff x="0" y="0"/>
            <a:chExt cx="812800" cy="3711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6450" y="35780"/>
              <a:ext cx="699901" cy="335394"/>
            </a:xfrm>
            <a:custGeom>
              <a:avLst/>
              <a:gdLst/>
              <a:ahLst/>
              <a:cxnLst/>
              <a:rect r="r" b="b" t="t" l="l"/>
              <a:pathLst>
                <a:path h="335394" w="699901">
                  <a:moveTo>
                    <a:pt x="418052" y="26419"/>
                  </a:moveTo>
                  <a:lnTo>
                    <a:pt x="688248" y="273195"/>
                  </a:lnTo>
                  <a:cubicBezTo>
                    <a:pt x="699152" y="283154"/>
                    <a:pt x="702818" y="298788"/>
                    <a:pt x="697477" y="312555"/>
                  </a:cubicBezTo>
                  <a:cubicBezTo>
                    <a:pt x="692136" y="326322"/>
                    <a:pt x="678886" y="335394"/>
                    <a:pt x="664119" y="335394"/>
                  </a:cubicBezTo>
                  <a:lnTo>
                    <a:pt x="35781" y="335394"/>
                  </a:lnTo>
                  <a:cubicBezTo>
                    <a:pt x="21014" y="335394"/>
                    <a:pt x="7764" y="326322"/>
                    <a:pt x="2423" y="312555"/>
                  </a:cubicBezTo>
                  <a:cubicBezTo>
                    <a:pt x="-2918" y="298788"/>
                    <a:pt x="748" y="283154"/>
                    <a:pt x="11652" y="273195"/>
                  </a:cubicBezTo>
                  <a:lnTo>
                    <a:pt x="281848" y="26419"/>
                  </a:lnTo>
                  <a:cubicBezTo>
                    <a:pt x="320417" y="-8807"/>
                    <a:pt x="379483" y="-8807"/>
                    <a:pt x="418052" y="26419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41568" y="3947523"/>
            <a:ext cx="402822" cy="2474413"/>
            <a:chOff x="0" y="0"/>
            <a:chExt cx="106093" cy="6516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93" cy="651697"/>
            </a:xfrm>
            <a:custGeom>
              <a:avLst/>
              <a:gdLst/>
              <a:ahLst/>
              <a:cxnLst/>
              <a:rect r="r" b="b" t="t" l="l"/>
              <a:pathLst>
                <a:path h="651697" w="106093">
                  <a:moveTo>
                    <a:pt x="53047" y="0"/>
                  </a:moveTo>
                  <a:lnTo>
                    <a:pt x="53047" y="0"/>
                  </a:lnTo>
                  <a:cubicBezTo>
                    <a:pt x="67115" y="0"/>
                    <a:pt x="80608" y="5589"/>
                    <a:pt x="90556" y="15537"/>
                  </a:cubicBezTo>
                  <a:cubicBezTo>
                    <a:pt x="100504" y="25485"/>
                    <a:pt x="106093" y="38978"/>
                    <a:pt x="106093" y="53047"/>
                  </a:cubicBezTo>
                  <a:lnTo>
                    <a:pt x="106093" y="598651"/>
                  </a:lnTo>
                  <a:cubicBezTo>
                    <a:pt x="106093" y="627948"/>
                    <a:pt x="82343" y="651697"/>
                    <a:pt x="53047" y="651697"/>
                  </a:cubicBezTo>
                  <a:lnTo>
                    <a:pt x="53047" y="651697"/>
                  </a:lnTo>
                  <a:cubicBezTo>
                    <a:pt x="23750" y="651697"/>
                    <a:pt x="0" y="627948"/>
                    <a:pt x="0" y="598651"/>
                  </a:cubicBezTo>
                  <a:lnTo>
                    <a:pt x="0" y="53047"/>
                  </a:lnTo>
                  <a:cubicBezTo>
                    <a:pt x="0" y="23750"/>
                    <a:pt x="23750" y="0"/>
                    <a:pt x="53047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6093" cy="708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41568" y="6688637"/>
            <a:ext cx="402822" cy="2474413"/>
            <a:chOff x="0" y="0"/>
            <a:chExt cx="106093" cy="6516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93" cy="651697"/>
            </a:xfrm>
            <a:custGeom>
              <a:avLst/>
              <a:gdLst/>
              <a:ahLst/>
              <a:cxnLst/>
              <a:rect r="r" b="b" t="t" l="l"/>
              <a:pathLst>
                <a:path h="651697" w="106093">
                  <a:moveTo>
                    <a:pt x="53047" y="0"/>
                  </a:moveTo>
                  <a:lnTo>
                    <a:pt x="53047" y="0"/>
                  </a:lnTo>
                  <a:cubicBezTo>
                    <a:pt x="67115" y="0"/>
                    <a:pt x="80608" y="5589"/>
                    <a:pt x="90556" y="15537"/>
                  </a:cubicBezTo>
                  <a:cubicBezTo>
                    <a:pt x="100504" y="25485"/>
                    <a:pt x="106093" y="38978"/>
                    <a:pt x="106093" y="53047"/>
                  </a:cubicBezTo>
                  <a:lnTo>
                    <a:pt x="106093" y="598651"/>
                  </a:lnTo>
                  <a:cubicBezTo>
                    <a:pt x="106093" y="627948"/>
                    <a:pt x="82343" y="651697"/>
                    <a:pt x="53047" y="651697"/>
                  </a:cubicBezTo>
                  <a:lnTo>
                    <a:pt x="53047" y="651697"/>
                  </a:lnTo>
                  <a:cubicBezTo>
                    <a:pt x="23750" y="651697"/>
                    <a:pt x="0" y="627948"/>
                    <a:pt x="0" y="598651"/>
                  </a:cubicBezTo>
                  <a:lnTo>
                    <a:pt x="0" y="53047"/>
                  </a:lnTo>
                  <a:cubicBezTo>
                    <a:pt x="0" y="23750"/>
                    <a:pt x="23750" y="0"/>
                    <a:pt x="53047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6093" cy="708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56606" y="3947523"/>
            <a:ext cx="402822" cy="2474413"/>
            <a:chOff x="0" y="0"/>
            <a:chExt cx="106093" cy="6516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093" cy="651697"/>
            </a:xfrm>
            <a:custGeom>
              <a:avLst/>
              <a:gdLst/>
              <a:ahLst/>
              <a:cxnLst/>
              <a:rect r="r" b="b" t="t" l="l"/>
              <a:pathLst>
                <a:path h="651697" w="106093">
                  <a:moveTo>
                    <a:pt x="53047" y="0"/>
                  </a:moveTo>
                  <a:lnTo>
                    <a:pt x="53047" y="0"/>
                  </a:lnTo>
                  <a:cubicBezTo>
                    <a:pt x="67115" y="0"/>
                    <a:pt x="80608" y="5589"/>
                    <a:pt x="90556" y="15537"/>
                  </a:cubicBezTo>
                  <a:cubicBezTo>
                    <a:pt x="100504" y="25485"/>
                    <a:pt x="106093" y="38978"/>
                    <a:pt x="106093" y="53047"/>
                  </a:cubicBezTo>
                  <a:lnTo>
                    <a:pt x="106093" y="598651"/>
                  </a:lnTo>
                  <a:cubicBezTo>
                    <a:pt x="106093" y="627948"/>
                    <a:pt x="82343" y="651697"/>
                    <a:pt x="53047" y="651697"/>
                  </a:cubicBezTo>
                  <a:lnTo>
                    <a:pt x="53047" y="651697"/>
                  </a:lnTo>
                  <a:cubicBezTo>
                    <a:pt x="23750" y="651697"/>
                    <a:pt x="0" y="627948"/>
                    <a:pt x="0" y="598651"/>
                  </a:cubicBezTo>
                  <a:lnTo>
                    <a:pt x="0" y="53047"/>
                  </a:lnTo>
                  <a:cubicBezTo>
                    <a:pt x="0" y="23750"/>
                    <a:pt x="23750" y="0"/>
                    <a:pt x="53047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6093" cy="708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56606" y="6688637"/>
            <a:ext cx="402822" cy="2474413"/>
            <a:chOff x="0" y="0"/>
            <a:chExt cx="106093" cy="6516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093" cy="651697"/>
            </a:xfrm>
            <a:custGeom>
              <a:avLst/>
              <a:gdLst/>
              <a:ahLst/>
              <a:cxnLst/>
              <a:rect r="r" b="b" t="t" l="l"/>
              <a:pathLst>
                <a:path h="651697" w="106093">
                  <a:moveTo>
                    <a:pt x="53047" y="0"/>
                  </a:moveTo>
                  <a:lnTo>
                    <a:pt x="53047" y="0"/>
                  </a:lnTo>
                  <a:cubicBezTo>
                    <a:pt x="67115" y="0"/>
                    <a:pt x="80608" y="5589"/>
                    <a:pt x="90556" y="15537"/>
                  </a:cubicBezTo>
                  <a:cubicBezTo>
                    <a:pt x="100504" y="25485"/>
                    <a:pt x="106093" y="38978"/>
                    <a:pt x="106093" y="53047"/>
                  </a:cubicBezTo>
                  <a:lnTo>
                    <a:pt x="106093" y="598651"/>
                  </a:lnTo>
                  <a:cubicBezTo>
                    <a:pt x="106093" y="627948"/>
                    <a:pt x="82343" y="651697"/>
                    <a:pt x="53047" y="651697"/>
                  </a:cubicBezTo>
                  <a:lnTo>
                    <a:pt x="53047" y="651697"/>
                  </a:lnTo>
                  <a:cubicBezTo>
                    <a:pt x="23750" y="651697"/>
                    <a:pt x="0" y="627948"/>
                    <a:pt x="0" y="598651"/>
                  </a:cubicBezTo>
                  <a:lnTo>
                    <a:pt x="0" y="53047"/>
                  </a:lnTo>
                  <a:cubicBezTo>
                    <a:pt x="0" y="23750"/>
                    <a:pt x="23750" y="0"/>
                    <a:pt x="53047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6093" cy="708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512742" y="5468402"/>
            <a:ext cx="660399" cy="660399"/>
          </a:xfrm>
          <a:custGeom>
            <a:avLst/>
            <a:gdLst/>
            <a:ahLst/>
            <a:cxnLst/>
            <a:rect r="r" b="b" t="t" l="l"/>
            <a:pathLst>
              <a:path h="660399" w="660399">
                <a:moveTo>
                  <a:pt x="0" y="0"/>
                </a:moveTo>
                <a:lnTo>
                  <a:pt x="660400" y="0"/>
                </a:lnTo>
                <a:lnTo>
                  <a:pt x="660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9144000" y="5451624"/>
            <a:ext cx="645106" cy="706789"/>
          </a:xfrm>
          <a:custGeom>
            <a:avLst/>
            <a:gdLst/>
            <a:ahLst/>
            <a:cxnLst/>
            <a:rect r="r" b="b" t="t" l="l"/>
            <a:pathLst>
              <a:path h="706789" w="645106">
                <a:moveTo>
                  <a:pt x="0" y="0"/>
                </a:moveTo>
                <a:lnTo>
                  <a:pt x="645106" y="0"/>
                </a:lnTo>
                <a:lnTo>
                  <a:pt x="645106" y="706789"/>
                </a:lnTo>
                <a:lnTo>
                  <a:pt x="0" y="706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512742" y="7011126"/>
            <a:ext cx="660399" cy="660399"/>
          </a:xfrm>
          <a:custGeom>
            <a:avLst/>
            <a:gdLst/>
            <a:ahLst/>
            <a:cxnLst/>
            <a:rect r="r" b="b" t="t" l="l"/>
            <a:pathLst>
              <a:path h="660399" w="660399">
                <a:moveTo>
                  <a:pt x="0" y="0"/>
                </a:moveTo>
                <a:lnTo>
                  <a:pt x="660400" y="0"/>
                </a:lnTo>
                <a:lnTo>
                  <a:pt x="660400" y="660399"/>
                </a:lnTo>
                <a:lnTo>
                  <a:pt x="0" y="66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665613" y="885825"/>
            <a:ext cx="895677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STARTUP GROWTH ROADMAP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474654" y="4412059"/>
            <a:ext cx="257234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Idea Validation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474654" y="6953976"/>
            <a:ext cx="257234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Product Development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55839" y="4412059"/>
            <a:ext cx="257234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Funding Search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55839" y="7153172"/>
            <a:ext cx="257234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Launch &amp; Scaling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74654" y="4955371"/>
            <a:ext cx="3173124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Test product or service concepts to ensure market demand.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474654" y="7895681"/>
            <a:ext cx="317312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Build products that meet validated market needs.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55063" y="4955371"/>
            <a:ext cx="317312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Secure funding sources to support early development.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655063" y="7696484"/>
            <a:ext cx="317312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Launch products on a large scale and plan for growth.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9027492" y="6967753"/>
            <a:ext cx="722154" cy="703772"/>
          </a:xfrm>
          <a:custGeom>
            <a:avLst/>
            <a:gdLst/>
            <a:ahLst/>
            <a:cxnLst/>
            <a:rect r="r" b="b" t="t" l="l"/>
            <a:pathLst>
              <a:path h="703772" w="722154">
                <a:moveTo>
                  <a:pt x="0" y="0"/>
                </a:moveTo>
                <a:lnTo>
                  <a:pt x="722155" y="0"/>
                </a:lnTo>
                <a:lnTo>
                  <a:pt x="722155" y="703772"/>
                </a:lnTo>
                <a:lnTo>
                  <a:pt x="0" y="703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24" y="3374925"/>
            <a:ext cx="4649611" cy="464961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97" y="6897"/>
              <a:ext cx="799006" cy="799006"/>
            </a:xfrm>
            <a:custGeom>
              <a:avLst/>
              <a:gdLst/>
              <a:ahLst/>
              <a:cxnLst/>
              <a:rect r="r" b="b" t="t" l="l"/>
              <a:pathLst>
                <a:path h="799006" w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03563" y="3374925"/>
            <a:ext cx="4649611" cy="46496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97" y="6897"/>
              <a:ext cx="799006" cy="799006"/>
            </a:xfrm>
            <a:custGeom>
              <a:avLst/>
              <a:gdLst/>
              <a:ahLst/>
              <a:cxnLst/>
              <a:rect r="r" b="b" t="t" l="l"/>
              <a:pathLst>
                <a:path h="799006" w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78425" y="5165879"/>
            <a:ext cx="4649611" cy="464961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897" y="6897"/>
              <a:ext cx="799006" cy="799006"/>
            </a:xfrm>
            <a:custGeom>
              <a:avLst/>
              <a:gdLst/>
              <a:ahLst/>
              <a:cxnLst/>
              <a:rect r="r" b="b" t="t" l="l"/>
              <a:pathLst>
                <a:path h="799006" w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19360" y="5165879"/>
            <a:ext cx="4649611" cy="46496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897" y="6897"/>
              <a:ext cx="799006" cy="799006"/>
            </a:xfrm>
            <a:custGeom>
              <a:avLst/>
              <a:gdLst/>
              <a:ahLst/>
              <a:cxnLst/>
              <a:rect r="r" b="b" t="t" l="l"/>
              <a:pathLst>
                <a:path h="799006" w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5226" y="5065645"/>
            <a:ext cx="1268170" cy="126817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18339" y="5065645"/>
            <a:ext cx="1268170" cy="126817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37268" y="6896925"/>
            <a:ext cx="1268170" cy="12681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96334" y="6896925"/>
            <a:ext cx="1268170" cy="126817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57161" y="5290291"/>
            <a:ext cx="818879" cy="818879"/>
          </a:xfrm>
          <a:custGeom>
            <a:avLst/>
            <a:gdLst/>
            <a:ahLst/>
            <a:cxnLst/>
            <a:rect r="r" b="b" t="t" l="l"/>
            <a:pathLst>
              <a:path h="818879" w="818879">
                <a:moveTo>
                  <a:pt x="0" y="0"/>
                </a:moveTo>
                <a:lnTo>
                  <a:pt x="818879" y="0"/>
                </a:lnTo>
                <a:lnTo>
                  <a:pt x="818879" y="818879"/>
                </a:lnTo>
                <a:lnTo>
                  <a:pt x="0" y="81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5156695" y="7116352"/>
            <a:ext cx="829317" cy="829317"/>
          </a:xfrm>
          <a:custGeom>
            <a:avLst/>
            <a:gdLst/>
            <a:ahLst/>
            <a:cxnLst/>
            <a:rect r="r" b="b" t="t" l="l"/>
            <a:pathLst>
              <a:path h="829317" w="829317">
                <a:moveTo>
                  <a:pt x="0" y="0"/>
                </a:moveTo>
                <a:lnTo>
                  <a:pt x="829316" y="0"/>
                </a:lnTo>
                <a:lnTo>
                  <a:pt x="829316" y="829317"/>
                </a:lnTo>
                <a:lnTo>
                  <a:pt x="0" y="8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022224" y="5387916"/>
            <a:ext cx="660399" cy="660399"/>
          </a:xfrm>
          <a:custGeom>
            <a:avLst/>
            <a:gdLst/>
            <a:ahLst/>
            <a:cxnLst/>
            <a:rect r="r" b="b" t="t" l="l"/>
            <a:pathLst>
              <a:path h="660399" w="660399">
                <a:moveTo>
                  <a:pt x="0" y="0"/>
                </a:moveTo>
                <a:lnTo>
                  <a:pt x="660399" y="0"/>
                </a:lnTo>
                <a:lnTo>
                  <a:pt x="660399" y="660399"/>
                </a:lnTo>
                <a:lnTo>
                  <a:pt x="0" y="66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2628561" y="7033854"/>
            <a:ext cx="803715" cy="994312"/>
          </a:xfrm>
          <a:custGeom>
            <a:avLst/>
            <a:gdLst/>
            <a:ahLst/>
            <a:cxnLst/>
            <a:rect r="r" b="b" t="t" l="l"/>
            <a:pathLst>
              <a:path h="994312" w="803715">
                <a:moveTo>
                  <a:pt x="0" y="0"/>
                </a:moveTo>
                <a:lnTo>
                  <a:pt x="803715" y="0"/>
                </a:lnTo>
                <a:lnTo>
                  <a:pt x="803715" y="994312"/>
                </a:lnTo>
                <a:lnTo>
                  <a:pt x="0" y="994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4478164" y="885825"/>
            <a:ext cx="9331672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IT IMPLEMENTATION ROADMAP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7155" y="4726940"/>
            <a:ext cx="172993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Planning &amp; Approval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26696" y="6401152"/>
            <a:ext cx="213396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System Development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60267" y="4769897"/>
            <a:ext cx="172993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Testing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91823" y="6601177"/>
            <a:ext cx="172993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Go-Live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95140" y="5670490"/>
            <a:ext cx="213396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Determine system needs and get budget approval.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26696" y="7344514"/>
            <a:ext cx="2133967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Build the system based on the specified technical requirements.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58252" y="5313209"/>
            <a:ext cx="2133967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Conduct system tests to ensure everything functions correctly.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89809" y="7144489"/>
            <a:ext cx="213396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Fully implement the system in daily operations.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091" y="5779493"/>
            <a:ext cx="2408529" cy="424892"/>
            <a:chOff x="0" y="0"/>
            <a:chExt cx="634345" cy="111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55262" y="5779493"/>
            <a:ext cx="2408529" cy="424892"/>
            <a:chOff x="0" y="0"/>
            <a:chExt cx="634345" cy="111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7656" y="3843593"/>
            <a:ext cx="1745401" cy="17454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6827" y="3843593"/>
            <a:ext cx="1745401" cy="17454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4792" y="5779493"/>
            <a:ext cx="2408529" cy="424892"/>
            <a:chOff x="0" y="0"/>
            <a:chExt cx="634345" cy="1119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76356" y="3843593"/>
            <a:ext cx="1745401" cy="174540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34321" y="5779493"/>
            <a:ext cx="2408529" cy="424892"/>
            <a:chOff x="0" y="0"/>
            <a:chExt cx="634345" cy="1119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65885" y="3843593"/>
            <a:ext cx="1745401" cy="174540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23850" y="5779493"/>
            <a:ext cx="2408529" cy="424892"/>
            <a:chOff x="0" y="0"/>
            <a:chExt cx="634345" cy="1119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55414" y="3843593"/>
            <a:ext cx="1745401" cy="174540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9E8C9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913379" y="5779493"/>
            <a:ext cx="2408529" cy="424892"/>
            <a:chOff x="0" y="0"/>
            <a:chExt cx="634345" cy="1119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4345" cy="111906"/>
            </a:xfrm>
            <a:custGeom>
              <a:avLst/>
              <a:gdLst/>
              <a:ahLst/>
              <a:cxnLst/>
              <a:rect r="r" b="b" t="t" l="l"/>
              <a:pathLst>
                <a:path h="111906" w="634345">
                  <a:moveTo>
                    <a:pt x="55953" y="0"/>
                  </a:moveTo>
                  <a:lnTo>
                    <a:pt x="578392" y="0"/>
                  </a:lnTo>
                  <a:cubicBezTo>
                    <a:pt x="609294" y="0"/>
                    <a:pt x="634345" y="25051"/>
                    <a:pt x="634345" y="55953"/>
                  </a:cubicBezTo>
                  <a:lnTo>
                    <a:pt x="634345" y="55953"/>
                  </a:lnTo>
                  <a:cubicBezTo>
                    <a:pt x="634345" y="86855"/>
                    <a:pt x="609294" y="111906"/>
                    <a:pt x="578392" y="111906"/>
                  </a:cubicBezTo>
                  <a:lnTo>
                    <a:pt x="55953" y="111906"/>
                  </a:lnTo>
                  <a:cubicBezTo>
                    <a:pt x="25051" y="111906"/>
                    <a:pt x="0" y="86855"/>
                    <a:pt x="0" y="55953"/>
                  </a:cubicBezTo>
                  <a:lnTo>
                    <a:pt x="0" y="55953"/>
                  </a:lnTo>
                  <a:cubicBezTo>
                    <a:pt x="0" y="25051"/>
                    <a:pt x="25051" y="0"/>
                    <a:pt x="55953" y="0"/>
                  </a:cubicBezTo>
                  <a:close/>
                </a:path>
              </a:pathLst>
            </a:custGeom>
            <a:solidFill>
              <a:srgbClr val="667B8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34345" cy="1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244944" y="3843593"/>
            <a:ext cx="1745401" cy="174540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667B8A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761804" y="4308546"/>
            <a:ext cx="817105" cy="815494"/>
          </a:xfrm>
          <a:custGeom>
            <a:avLst/>
            <a:gdLst/>
            <a:ahLst/>
            <a:cxnLst/>
            <a:rect r="r" b="b" t="t" l="l"/>
            <a:pathLst>
              <a:path h="815494" w="817105">
                <a:moveTo>
                  <a:pt x="0" y="0"/>
                </a:moveTo>
                <a:lnTo>
                  <a:pt x="817104" y="0"/>
                </a:lnTo>
                <a:lnTo>
                  <a:pt x="817104" y="815494"/>
                </a:lnTo>
                <a:lnTo>
                  <a:pt x="0" y="81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536854" y="4378155"/>
            <a:ext cx="845346" cy="676277"/>
          </a:xfrm>
          <a:custGeom>
            <a:avLst/>
            <a:gdLst/>
            <a:ahLst/>
            <a:cxnLst/>
            <a:rect r="r" b="b" t="t" l="l"/>
            <a:pathLst>
              <a:path h="676277" w="845346">
                <a:moveTo>
                  <a:pt x="0" y="0"/>
                </a:moveTo>
                <a:lnTo>
                  <a:pt x="845346" y="0"/>
                </a:lnTo>
                <a:lnTo>
                  <a:pt x="845346" y="676276"/>
                </a:lnTo>
                <a:lnTo>
                  <a:pt x="0" y="676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0155282" y="4320358"/>
            <a:ext cx="791870" cy="791870"/>
          </a:xfrm>
          <a:custGeom>
            <a:avLst/>
            <a:gdLst/>
            <a:ahLst/>
            <a:cxnLst/>
            <a:rect r="r" b="b" t="t" l="l"/>
            <a:pathLst>
              <a:path h="791870" w="791870">
                <a:moveTo>
                  <a:pt x="0" y="0"/>
                </a:moveTo>
                <a:lnTo>
                  <a:pt x="791870" y="0"/>
                </a:lnTo>
                <a:lnTo>
                  <a:pt x="791870" y="791870"/>
                </a:lnTo>
                <a:lnTo>
                  <a:pt x="0" y="791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365752" y="4304919"/>
            <a:ext cx="796781" cy="819121"/>
          </a:xfrm>
          <a:custGeom>
            <a:avLst/>
            <a:gdLst/>
            <a:ahLst/>
            <a:cxnLst/>
            <a:rect r="r" b="b" t="t" l="l"/>
            <a:pathLst>
              <a:path h="819121" w="796781">
                <a:moveTo>
                  <a:pt x="0" y="0"/>
                </a:moveTo>
                <a:lnTo>
                  <a:pt x="796782" y="0"/>
                </a:lnTo>
                <a:lnTo>
                  <a:pt x="796782" y="819121"/>
                </a:lnTo>
                <a:lnTo>
                  <a:pt x="0" y="8191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2954574" y="4320358"/>
            <a:ext cx="747082" cy="756712"/>
          </a:xfrm>
          <a:custGeom>
            <a:avLst/>
            <a:gdLst/>
            <a:ahLst/>
            <a:cxnLst/>
            <a:rect r="r" b="b" t="t" l="l"/>
            <a:pathLst>
              <a:path h="756712" w="747082">
                <a:moveTo>
                  <a:pt x="0" y="0"/>
                </a:moveTo>
                <a:lnTo>
                  <a:pt x="747082" y="0"/>
                </a:lnTo>
                <a:lnTo>
                  <a:pt x="747082" y="756712"/>
                </a:lnTo>
                <a:lnTo>
                  <a:pt x="0" y="756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5743865" y="4268634"/>
            <a:ext cx="754753" cy="895318"/>
          </a:xfrm>
          <a:custGeom>
            <a:avLst/>
            <a:gdLst/>
            <a:ahLst/>
            <a:cxnLst/>
            <a:rect r="r" b="b" t="t" l="l"/>
            <a:pathLst>
              <a:path h="895318" w="754753">
                <a:moveTo>
                  <a:pt x="0" y="0"/>
                </a:moveTo>
                <a:lnTo>
                  <a:pt x="754754" y="0"/>
                </a:lnTo>
                <a:lnTo>
                  <a:pt x="754754" y="895318"/>
                </a:lnTo>
                <a:lnTo>
                  <a:pt x="0" y="895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4" id="44"/>
          <p:cNvSpPr txBox="true"/>
          <p:nvPr/>
        </p:nvSpPr>
        <p:spPr>
          <a:xfrm rot="0">
            <a:off x="4908798" y="885825"/>
            <a:ext cx="847040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HR ONBOARDING ROADMAP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4098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First Day Orientation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83269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Training &amp; Development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6091" y="739723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Introduce new employees to the team and company culture.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755262" y="739723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Train employees with a structured development program.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72798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Team Integration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544792" y="7397233"/>
            <a:ext cx="240852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Encourage collaboration and relationship building with the team.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62327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Tool &amp; Access Preparation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34321" y="739723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Ensure employees have access to necessary tools and systems.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351857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Role Assignment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23850" y="739723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Clarify job responsibilities and expectations.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141386" y="645368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Feedback &amp; Evaluation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913379" y="739723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Provide initial feedback and performance evaluation.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50953" y="5836047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40124" y="5836047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229653" y="5838644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019183" y="5836047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808712" y="5836047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98241" y="5836047"/>
            <a:ext cx="10388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4403" y="3995124"/>
            <a:ext cx="6381750" cy="1895717"/>
            <a:chOff x="0" y="0"/>
            <a:chExt cx="2258522" cy="670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8522" cy="670900"/>
            </a:xfrm>
            <a:custGeom>
              <a:avLst/>
              <a:gdLst/>
              <a:ahLst/>
              <a:cxnLst/>
              <a:rect r="r" b="b" t="t" l="l"/>
              <a:pathLst>
                <a:path h="670900" w="2258522">
                  <a:moveTo>
                    <a:pt x="12131" y="0"/>
                  </a:moveTo>
                  <a:lnTo>
                    <a:pt x="2246391" y="0"/>
                  </a:lnTo>
                  <a:cubicBezTo>
                    <a:pt x="2253091" y="0"/>
                    <a:pt x="2258522" y="5431"/>
                    <a:pt x="2258522" y="12131"/>
                  </a:cubicBezTo>
                  <a:lnTo>
                    <a:pt x="2258522" y="658769"/>
                  </a:lnTo>
                  <a:cubicBezTo>
                    <a:pt x="2258522" y="665469"/>
                    <a:pt x="2253091" y="670900"/>
                    <a:pt x="2246391" y="670900"/>
                  </a:cubicBezTo>
                  <a:lnTo>
                    <a:pt x="12131" y="670900"/>
                  </a:lnTo>
                  <a:cubicBezTo>
                    <a:pt x="8914" y="670900"/>
                    <a:pt x="5828" y="669622"/>
                    <a:pt x="3553" y="667347"/>
                  </a:cubicBezTo>
                  <a:cubicBezTo>
                    <a:pt x="1278" y="665072"/>
                    <a:pt x="0" y="661987"/>
                    <a:pt x="0" y="658769"/>
                  </a:cubicBezTo>
                  <a:lnTo>
                    <a:pt x="0" y="12131"/>
                  </a:lnTo>
                  <a:cubicBezTo>
                    <a:pt x="0" y="8914"/>
                    <a:pt x="1278" y="5828"/>
                    <a:pt x="3553" y="3553"/>
                  </a:cubicBezTo>
                  <a:cubicBezTo>
                    <a:pt x="5828" y="1278"/>
                    <a:pt x="8914" y="0"/>
                    <a:pt x="12131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58522" cy="72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86341" y="6499968"/>
            <a:ext cx="6381750" cy="1895717"/>
            <a:chOff x="0" y="0"/>
            <a:chExt cx="2258522" cy="670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8522" cy="670900"/>
            </a:xfrm>
            <a:custGeom>
              <a:avLst/>
              <a:gdLst/>
              <a:ahLst/>
              <a:cxnLst/>
              <a:rect r="r" b="b" t="t" l="l"/>
              <a:pathLst>
                <a:path h="670900" w="2258522">
                  <a:moveTo>
                    <a:pt x="12131" y="0"/>
                  </a:moveTo>
                  <a:lnTo>
                    <a:pt x="2246391" y="0"/>
                  </a:lnTo>
                  <a:cubicBezTo>
                    <a:pt x="2253091" y="0"/>
                    <a:pt x="2258522" y="5431"/>
                    <a:pt x="2258522" y="12131"/>
                  </a:cubicBezTo>
                  <a:lnTo>
                    <a:pt x="2258522" y="658769"/>
                  </a:lnTo>
                  <a:cubicBezTo>
                    <a:pt x="2258522" y="665469"/>
                    <a:pt x="2253091" y="670900"/>
                    <a:pt x="2246391" y="670900"/>
                  </a:cubicBezTo>
                  <a:lnTo>
                    <a:pt x="12131" y="670900"/>
                  </a:lnTo>
                  <a:cubicBezTo>
                    <a:pt x="8914" y="670900"/>
                    <a:pt x="5828" y="669622"/>
                    <a:pt x="3553" y="667347"/>
                  </a:cubicBezTo>
                  <a:cubicBezTo>
                    <a:pt x="1278" y="665072"/>
                    <a:pt x="0" y="661987"/>
                    <a:pt x="0" y="658769"/>
                  </a:cubicBezTo>
                  <a:lnTo>
                    <a:pt x="0" y="12131"/>
                  </a:lnTo>
                  <a:cubicBezTo>
                    <a:pt x="0" y="8914"/>
                    <a:pt x="1278" y="5828"/>
                    <a:pt x="3553" y="3553"/>
                  </a:cubicBezTo>
                  <a:cubicBezTo>
                    <a:pt x="5828" y="1278"/>
                    <a:pt x="8914" y="0"/>
                    <a:pt x="12131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58522" cy="72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11794" y="3995124"/>
            <a:ext cx="6381750" cy="1895717"/>
            <a:chOff x="0" y="0"/>
            <a:chExt cx="2258522" cy="670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8522" cy="670900"/>
            </a:xfrm>
            <a:custGeom>
              <a:avLst/>
              <a:gdLst/>
              <a:ahLst/>
              <a:cxnLst/>
              <a:rect r="r" b="b" t="t" l="l"/>
              <a:pathLst>
                <a:path h="670900" w="2258522">
                  <a:moveTo>
                    <a:pt x="12131" y="0"/>
                  </a:moveTo>
                  <a:lnTo>
                    <a:pt x="2246391" y="0"/>
                  </a:lnTo>
                  <a:cubicBezTo>
                    <a:pt x="2253091" y="0"/>
                    <a:pt x="2258522" y="5431"/>
                    <a:pt x="2258522" y="12131"/>
                  </a:cubicBezTo>
                  <a:lnTo>
                    <a:pt x="2258522" y="658769"/>
                  </a:lnTo>
                  <a:cubicBezTo>
                    <a:pt x="2258522" y="665469"/>
                    <a:pt x="2253091" y="670900"/>
                    <a:pt x="2246391" y="670900"/>
                  </a:cubicBezTo>
                  <a:lnTo>
                    <a:pt x="12131" y="670900"/>
                  </a:lnTo>
                  <a:cubicBezTo>
                    <a:pt x="8914" y="670900"/>
                    <a:pt x="5828" y="669622"/>
                    <a:pt x="3553" y="667347"/>
                  </a:cubicBezTo>
                  <a:cubicBezTo>
                    <a:pt x="1278" y="665072"/>
                    <a:pt x="0" y="661987"/>
                    <a:pt x="0" y="658769"/>
                  </a:cubicBezTo>
                  <a:lnTo>
                    <a:pt x="0" y="12131"/>
                  </a:lnTo>
                  <a:cubicBezTo>
                    <a:pt x="0" y="8914"/>
                    <a:pt x="1278" y="5828"/>
                    <a:pt x="3553" y="3553"/>
                  </a:cubicBezTo>
                  <a:cubicBezTo>
                    <a:pt x="5828" y="1278"/>
                    <a:pt x="8914" y="0"/>
                    <a:pt x="12131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58522" cy="72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93731" y="6499968"/>
            <a:ext cx="6381750" cy="1895717"/>
            <a:chOff x="0" y="0"/>
            <a:chExt cx="2258522" cy="670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8522" cy="670900"/>
            </a:xfrm>
            <a:custGeom>
              <a:avLst/>
              <a:gdLst/>
              <a:ahLst/>
              <a:cxnLst/>
              <a:rect r="r" b="b" t="t" l="l"/>
              <a:pathLst>
                <a:path h="670900" w="2258522">
                  <a:moveTo>
                    <a:pt x="12131" y="0"/>
                  </a:moveTo>
                  <a:lnTo>
                    <a:pt x="2246391" y="0"/>
                  </a:lnTo>
                  <a:cubicBezTo>
                    <a:pt x="2253091" y="0"/>
                    <a:pt x="2258522" y="5431"/>
                    <a:pt x="2258522" y="12131"/>
                  </a:cubicBezTo>
                  <a:lnTo>
                    <a:pt x="2258522" y="658769"/>
                  </a:lnTo>
                  <a:cubicBezTo>
                    <a:pt x="2258522" y="665469"/>
                    <a:pt x="2253091" y="670900"/>
                    <a:pt x="2246391" y="670900"/>
                  </a:cubicBezTo>
                  <a:lnTo>
                    <a:pt x="12131" y="670900"/>
                  </a:lnTo>
                  <a:cubicBezTo>
                    <a:pt x="8914" y="670900"/>
                    <a:pt x="5828" y="669622"/>
                    <a:pt x="3553" y="667347"/>
                  </a:cubicBezTo>
                  <a:cubicBezTo>
                    <a:pt x="1278" y="665072"/>
                    <a:pt x="0" y="661987"/>
                    <a:pt x="0" y="658769"/>
                  </a:cubicBezTo>
                  <a:lnTo>
                    <a:pt x="0" y="12131"/>
                  </a:lnTo>
                  <a:cubicBezTo>
                    <a:pt x="0" y="8914"/>
                    <a:pt x="1278" y="5828"/>
                    <a:pt x="3553" y="3553"/>
                  </a:cubicBezTo>
                  <a:cubicBezTo>
                    <a:pt x="5828" y="1278"/>
                    <a:pt x="8914" y="0"/>
                    <a:pt x="12131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58522" cy="72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09233" y="4409599"/>
            <a:ext cx="1066766" cy="1066766"/>
            <a:chOff x="0" y="0"/>
            <a:chExt cx="377532" cy="377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7532" cy="377532"/>
            </a:xfrm>
            <a:custGeom>
              <a:avLst/>
              <a:gdLst/>
              <a:ahLst/>
              <a:cxnLst/>
              <a:rect r="r" b="b" t="t" l="l"/>
              <a:pathLst>
                <a:path h="377532" w="377532">
                  <a:moveTo>
                    <a:pt x="72574" y="0"/>
                  </a:moveTo>
                  <a:lnTo>
                    <a:pt x="304958" y="0"/>
                  </a:lnTo>
                  <a:cubicBezTo>
                    <a:pt x="324206" y="0"/>
                    <a:pt x="342665" y="7646"/>
                    <a:pt x="356276" y="21256"/>
                  </a:cubicBezTo>
                  <a:cubicBezTo>
                    <a:pt x="369886" y="34867"/>
                    <a:pt x="377532" y="53326"/>
                    <a:pt x="377532" y="72574"/>
                  </a:cubicBezTo>
                  <a:lnTo>
                    <a:pt x="377532" y="304958"/>
                  </a:lnTo>
                  <a:cubicBezTo>
                    <a:pt x="377532" y="324206"/>
                    <a:pt x="369886" y="342665"/>
                    <a:pt x="356276" y="356276"/>
                  </a:cubicBezTo>
                  <a:cubicBezTo>
                    <a:pt x="342665" y="369886"/>
                    <a:pt x="324206" y="377532"/>
                    <a:pt x="304958" y="377532"/>
                  </a:cubicBezTo>
                  <a:lnTo>
                    <a:pt x="72574" y="377532"/>
                  </a:lnTo>
                  <a:cubicBezTo>
                    <a:pt x="53326" y="377532"/>
                    <a:pt x="34867" y="369886"/>
                    <a:pt x="21256" y="356276"/>
                  </a:cubicBezTo>
                  <a:cubicBezTo>
                    <a:pt x="7646" y="342665"/>
                    <a:pt x="0" y="324206"/>
                    <a:pt x="0" y="304958"/>
                  </a:cubicBezTo>
                  <a:lnTo>
                    <a:pt x="0" y="72574"/>
                  </a:lnTo>
                  <a:cubicBezTo>
                    <a:pt x="0" y="53326"/>
                    <a:pt x="7646" y="34867"/>
                    <a:pt x="21256" y="21256"/>
                  </a:cubicBezTo>
                  <a:cubicBezTo>
                    <a:pt x="34867" y="7646"/>
                    <a:pt x="53326" y="0"/>
                    <a:pt x="72574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77532" cy="43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91170" y="6914444"/>
            <a:ext cx="1066766" cy="1066766"/>
            <a:chOff x="0" y="0"/>
            <a:chExt cx="377532" cy="377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532" cy="377532"/>
            </a:xfrm>
            <a:custGeom>
              <a:avLst/>
              <a:gdLst/>
              <a:ahLst/>
              <a:cxnLst/>
              <a:rect r="r" b="b" t="t" l="l"/>
              <a:pathLst>
                <a:path h="377532" w="377532">
                  <a:moveTo>
                    <a:pt x="72574" y="0"/>
                  </a:moveTo>
                  <a:lnTo>
                    <a:pt x="304958" y="0"/>
                  </a:lnTo>
                  <a:cubicBezTo>
                    <a:pt x="324206" y="0"/>
                    <a:pt x="342665" y="7646"/>
                    <a:pt x="356276" y="21256"/>
                  </a:cubicBezTo>
                  <a:cubicBezTo>
                    <a:pt x="369886" y="34867"/>
                    <a:pt x="377532" y="53326"/>
                    <a:pt x="377532" y="72574"/>
                  </a:cubicBezTo>
                  <a:lnTo>
                    <a:pt x="377532" y="304958"/>
                  </a:lnTo>
                  <a:cubicBezTo>
                    <a:pt x="377532" y="324206"/>
                    <a:pt x="369886" y="342665"/>
                    <a:pt x="356276" y="356276"/>
                  </a:cubicBezTo>
                  <a:cubicBezTo>
                    <a:pt x="342665" y="369886"/>
                    <a:pt x="324206" y="377532"/>
                    <a:pt x="304958" y="377532"/>
                  </a:cubicBezTo>
                  <a:lnTo>
                    <a:pt x="72574" y="377532"/>
                  </a:lnTo>
                  <a:cubicBezTo>
                    <a:pt x="53326" y="377532"/>
                    <a:pt x="34867" y="369886"/>
                    <a:pt x="21256" y="356276"/>
                  </a:cubicBezTo>
                  <a:cubicBezTo>
                    <a:pt x="7646" y="342665"/>
                    <a:pt x="0" y="324206"/>
                    <a:pt x="0" y="304958"/>
                  </a:cubicBezTo>
                  <a:lnTo>
                    <a:pt x="0" y="72574"/>
                  </a:lnTo>
                  <a:cubicBezTo>
                    <a:pt x="0" y="53326"/>
                    <a:pt x="7646" y="34867"/>
                    <a:pt x="21256" y="21256"/>
                  </a:cubicBezTo>
                  <a:cubicBezTo>
                    <a:pt x="34867" y="7646"/>
                    <a:pt x="53326" y="0"/>
                    <a:pt x="72574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77532" cy="43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6623" y="4409599"/>
            <a:ext cx="1066766" cy="1066766"/>
            <a:chOff x="0" y="0"/>
            <a:chExt cx="377532" cy="3775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532" cy="377532"/>
            </a:xfrm>
            <a:custGeom>
              <a:avLst/>
              <a:gdLst/>
              <a:ahLst/>
              <a:cxnLst/>
              <a:rect r="r" b="b" t="t" l="l"/>
              <a:pathLst>
                <a:path h="377532" w="377532">
                  <a:moveTo>
                    <a:pt x="72574" y="0"/>
                  </a:moveTo>
                  <a:lnTo>
                    <a:pt x="304958" y="0"/>
                  </a:lnTo>
                  <a:cubicBezTo>
                    <a:pt x="324206" y="0"/>
                    <a:pt x="342665" y="7646"/>
                    <a:pt x="356276" y="21256"/>
                  </a:cubicBezTo>
                  <a:cubicBezTo>
                    <a:pt x="369886" y="34867"/>
                    <a:pt x="377532" y="53326"/>
                    <a:pt x="377532" y="72574"/>
                  </a:cubicBezTo>
                  <a:lnTo>
                    <a:pt x="377532" y="304958"/>
                  </a:lnTo>
                  <a:cubicBezTo>
                    <a:pt x="377532" y="324206"/>
                    <a:pt x="369886" y="342665"/>
                    <a:pt x="356276" y="356276"/>
                  </a:cubicBezTo>
                  <a:cubicBezTo>
                    <a:pt x="342665" y="369886"/>
                    <a:pt x="324206" y="377532"/>
                    <a:pt x="304958" y="377532"/>
                  </a:cubicBezTo>
                  <a:lnTo>
                    <a:pt x="72574" y="377532"/>
                  </a:lnTo>
                  <a:cubicBezTo>
                    <a:pt x="53326" y="377532"/>
                    <a:pt x="34867" y="369886"/>
                    <a:pt x="21256" y="356276"/>
                  </a:cubicBezTo>
                  <a:cubicBezTo>
                    <a:pt x="7646" y="342665"/>
                    <a:pt x="0" y="324206"/>
                    <a:pt x="0" y="304958"/>
                  </a:cubicBezTo>
                  <a:lnTo>
                    <a:pt x="0" y="72574"/>
                  </a:lnTo>
                  <a:cubicBezTo>
                    <a:pt x="0" y="53326"/>
                    <a:pt x="7646" y="34867"/>
                    <a:pt x="21256" y="21256"/>
                  </a:cubicBezTo>
                  <a:cubicBezTo>
                    <a:pt x="34867" y="7646"/>
                    <a:pt x="53326" y="0"/>
                    <a:pt x="72574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7532" cy="43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98560" y="6914444"/>
            <a:ext cx="1066766" cy="1066766"/>
            <a:chOff x="0" y="0"/>
            <a:chExt cx="377532" cy="3775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532" cy="377532"/>
            </a:xfrm>
            <a:custGeom>
              <a:avLst/>
              <a:gdLst/>
              <a:ahLst/>
              <a:cxnLst/>
              <a:rect r="r" b="b" t="t" l="l"/>
              <a:pathLst>
                <a:path h="377532" w="377532">
                  <a:moveTo>
                    <a:pt x="72574" y="0"/>
                  </a:moveTo>
                  <a:lnTo>
                    <a:pt x="304958" y="0"/>
                  </a:lnTo>
                  <a:cubicBezTo>
                    <a:pt x="324206" y="0"/>
                    <a:pt x="342665" y="7646"/>
                    <a:pt x="356276" y="21256"/>
                  </a:cubicBezTo>
                  <a:cubicBezTo>
                    <a:pt x="369886" y="34867"/>
                    <a:pt x="377532" y="53326"/>
                    <a:pt x="377532" y="72574"/>
                  </a:cubicBezTo>
                  <a:lnTo>
                    <a:pt x="377532" y="304958"/>
                  </a:lnTo>
                  <a:cubicBezTo>
                    <a:pt x="377532" y="324206"/>
                    <a:pt x="369886" y="342665"/>
                    <a:pt x="356276" y="356276"/>
                  </a:cubicBezTo>
                  <a:cubicBezTo>
                    <a:pt x="342665" y="369886"/>
                    <a:pt x="324206" y="377532"/>
                    <a:pt x="304958" y="377532"/>
                  </a:cubicBezTo>
                  <a:lnTo>
                    <a:pt x="72574" y="377532"/>
                  </a:lnTo>
                  <a:cubicBezTo>
                    <a:pt x="53326" y="377532"/>
                    <a:pt x="34867" y="369886"/>
                    <a:pt x="21256" y="356276"/>
                  </a:cubicBezTo>
                  <a:cubicBezTo>
                    <a:pt x="7646" y="342665"/>
                    <a:pt x="0" y="324206"/>
                    <a:pt x="0" y="304958"/>
                  </a:cubicBezTo>
                  <a:lnTo>
                    <a:pt x="0" y="72574"/>
                  </a:lnTo>
                  <a:cubicBezTo>
                    <a:pt x="0" y="53326"/>
                    <a:pt x="7646" y="34867"/>
                    <a:pt x="21256" y="21256"/>
                  </a:cubicBezTo>
                  <a:cubicBezTo>
                    <a:pt x="34867" y="7646"/>
                    <a:pt x="53326" y="0"/>
                    <a:pt x="72574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77532" cy="43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2915870" y="4714199"/>
            <a:ext cx="689159" cy="457566"/>
            <a:chOff x="0" y="0"/>
            <a:chExt cx="812800" cy="539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6307" y="56032"/>
              <a:ext cx="700187" cy="483625"/>
            </a:xfrm>
            <a:custGeom>
              <a:avLst/>
              <a:gdLst/>
              <a:ahLst/>
              <a:cxnLst/>
              <a:rect r="r" b="b" t="t" l="l"/>
              <a:pathLst>
                <a:path h="483625" w="700187">
                  <a:moveTo>
                    <a:pt x="417672" y="33706"/>
                  </a:moveTo>
                  <a:lnTo>
                    <a:pt x="688914" y="393887"/>
                  </a:lnTo>
                  <a:cubicBezTo>
                    <a:pt x="701693" y="410856"/>
                    <a:pt x="703777" y="433593"/>
                    <a:pt x="694295" y="452602"/>
                  </a:cubicBezTo>
                  <a:cubicBezTo>
                    <a:pt x="684814" y="471612"/>
                    <a:pt x="665397" y="483625"/>
                    <a:pt x="644154" y="483625"/>
                  </a:cubicBezTo>
                  <a:lnTo>
                    <a:pt x="56032" y="483625"/>
                  </a:lnTo>
                  <a:cubicBezTo>
                    <a:pt x="34789" y="483625"/>
                    <a:pt x="15372" y="471612"/>
                    <a:pt x="5891" y="452602"/>
                  </a:cubicBezTo>
                  <a:cubicBezTo>
                    <a:pt x="-3591" y="433593"/>
                    <a:pt x="-1507" y="410856"/>
                    <a:pt x="11272" y="393887"/>
                  </a:cubicBezTo>
                  <a:lnTo>
                    <a:pt x="282514" y="33706"/>
                  </a:lnTo>
                  <a:cubicBezTo>
                    <a:pt x="298497" y="12482"/>
                    <a:pt x="323523" y="0"/>
                    <a:pt x="350093" y="0"/>
                  </a:cubicBezTo>
                  <a:cubicBezTo>
                    <a:pt x="376663" y="0"/>
                    <a:pt x="401689" y="12482"/>
                    <a:pt x="417672" y="33706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193405"/>
              <a:ext cx="558800" cy="30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4497807" y="7219044"/>
            <a:ext cx="689159" cy="457566"/>
            <a:chOff x="0" y="0"/>
            <a:chExt cx="812800" cy="5396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6307" y="56032"/>
              <a:ext cx="700187" cy="483625"/>
            </a:xfrm>
            <a:custGeom>
              <a:avLst/>
              <a:gdLst/>
              <a:ahLst/>
              <a:cxnLst/>
              <a:rect r="r" b="b" t="t" l="l"/>
              <a:pathLst>
                <a:path h="483625" w="700187">
                  <a:moveTo>
                    <a:pt x="417672" y="33706"/>
                  </a:moveTo>
                  <a:lnTo>
                    <a:pt x="688914" y="393887"/>
                  </a:lnTo>
                  <a:cubicBezTo>
                    <a:pt x="701693" y="410856"/>
                    <a:pt x="703777" y="433593"/>
                    <a:pt x="694295" y="452602"/>
                  </a:cubicBezTo>
                  <a:cubicBezTo>
                    <a:pt x="684814" y="471612"/>
                    <a:pt x="665397" y="483625"/>
                    <a:pt x="644154" y="483625"/>
                  </a:cubicBezTo>
                  <a:lnTo>
                    <a:pt x="56032" y="483625"/>
                  </a:lnTo>
                  <a:cubicBezTo>
                    <a:pt x="34789" y="483625"/>
                    <a:pt x="15372" y="471612"/>
                    <a:pt x="5891" y="452602"/>
                  </a:cubicBezTo>
                  <a:cubicBezTo>
                    <a:pt x="-3591" y="433593"/>
                    <a:pt x="-1507" y="410856"/>
                    <a:pt x="11272" y="393887"/>
                  </a:cubicBezTo>
                  <a:lnTo>
                    <a:pt x="282514" y="33706"/>
                  </a:lnTo>
                  <a:cubicBezTo>
                    <a:pt x="298497" y="12482"/>
                    <a:pt x="323523" y="0"/>
                    <a:pt x="350093" y="0"/>
                  </a:cubicBezTo>
                  <a:cubicBezTo>
                    <a:pt x="376663" y="0"/>
                    <a:pt x="401689" y="12482"/>
                    <a:pt x="417672" y="33706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193405"/>
              <a:ext cx="558800" cy="30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0223260" y="4714199"/>
            <a:ext cx="689159" cy="457566"/>
            <a:chOff x="0" y="0"/>
            <a:chExt cx="812800" cy="5396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6307" y="56032"/>
              <a:ext cx="700187" cy="483625"/>
            </a:xfrm>
            <a:custGeom>
              <a:avLst/>
              <a:gdLst/>
              <a:ahLst/>
              <a:cxnLst/>
              <a:rect r="r" b="b" t="t" l="l"/>
              <a:pathLst>
                <a:path h="483625" w="700187">
                  <a:moveTo>
                    <a:pt x="417672" y="33706"/>
                  </a:moveTo>
                  <a:lnTo>
                    <a:pt x="688914" y="393887"/>
                  </a:lnTo>
                  <a:cubicBezTo>
                    <a:pt x="701693" y="410856"/>
                    <a:pt x="703777" y="433593"/>
                    <a:pt x="694295" y="452602"/>
                  </a:cubicBezTo>
                  <a:cubicBezTo>
                    <a:pt x="684814" y="471612"/>
                    <a:pt x="665397" y="483625"/>
                    <a:pt x="644154" y="483625"/>
                  </a:cubicBezTo>
                  <a:lnTo>
                    <a:pt x="56032" y="483625"/>
                  </a:lnTo>
                  <a:cubicBezTo>
                    <a:pt x="34789" y="483625"/>
                    <a:pt x="15372" y="471612"/>
                    <a:pt x="5891" y="452602"/>
                  </a:cubicBezTo>
                  <a:cubicBezTo>
                    <a:pt x="-3591" y="433593"/>
                    <a:pt x="-1507" y="410856"/>
                    <a:pt x="11272" y="393887"/>
                  </a:cubicBezTo>
                  <a:lnTo>
                    <a:pt x="282514" y="33706"/>
                  </a:lnTo>
                  <a:cubicBezTo>
                    <a:pt x="298497" y="12482"/>
                    <a:pt x="323523" y="0"/>
                    <a:pt x="350093" y="0"/>
                  </a:cubicBezTo>
                  <a:cubicBezTo>
                    <a:pt x="376663" y="0"/>
                    <a:pt x="401689" y="12482"/>
                    <a:pt x="417672" y="33706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193405"/>
              <a:ext cx="558800" cy="30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11805198" y="7219044"/>
            <a:ext cx="689159" cy="457566"/>
            <a:chOff x="0" y="0"/>
            <a:chExt cx="812800" cy="5396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6307" y="56032"/>
              <a:ext cx="700187" cy="483625"/>
            </a:xfrm>
            <a:custGeom>
              <a:avLst/>
              <a:gdLst/>
              <a:ahLst/>
              <a:cxnLst/>
              <a:rect r="r" b="b" t="t" l="l"/>
              <a:pathLst>
                <a:path h="483625" w="700187">
                  <a:moveTo>
                    <a:pt x="417672" y="33706"/>
                  </a:moveTo>
                  <a:lnTo>
                    <a:pt x="688914" y="393887"/>
                  </a:lnTo>
                  <a:cubicBezTo>
                    <a:pt x="701693" y="410856"/>
                    <a:pt x="703777" y="433593"/>
                    <a:pt x="694295" y="452602"/>
                  </a:cubicBezTo>
                  <a:cubicBezTo>
                    <a:pt x="684814" y="471612"/>
                    <a:pt x="665397" y="483625"/>
                    <a:pt x="644154" y="483625"/>
                  </a:cubicBezTo>
                  <a:lnTo>
                    <a:pt x="56032" y="483625"/>
                  </a:lnTo>
                  <a:cubicBezTo>
                    <a:pt x="34789" y="483625"/>
                    <a:pt x="15372" y="471612"/>
                    <a:pt x="5891" y="452602"/>
                  </a:cubicBezTo>
                  <a:cubicBezTo>
                    <a:pt x="-3591" y="433593"/>
                    <a:pt x="-1507" y="410856"/>
                    <a:pt x="11272" y="393887"/>
                  </a:cubicBezTo>
                  <a:lnTo>
                    <a:pt x="282514" y="33706"/>
                  </a:lnTo>
                  <a:cubicBezTo>
                    <a:pt x="298497" y="12482"/>
                    <a:pt x="323523" y="0"/>
                    <a:pt x="350093" y="0"/>
                  </a:cubicBezTo>
                  <a:cubicBezTo>
                    <a:pt x="376663" y="0"/>
                    <a:pt x="401689" y="12482"/>
                    <a:pt x="417672" y="33706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193405"/>
              <a:ext cx="558800" cy="30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2232374" y="4613602"/>
            <a:ext cx="820483" cy="609806"/>
          </a:xfrm>
          <a:custGeom>
            <a:avLst/>
            <a:gdLst/>
            <a:ahLst/>
            <a:cxnLst/>
            <a:rect r="r" b="b" t="t" l="l"/>
            <a:pathLst>
              <a:path h="609806" w="820483">
                <a:moveTo>
                  <a:pt x="0" y="0"/>
                </a:moveTo>
                <a:lnTo>
                  <a:pt x="820483" y="0"/>
                </a:lnTo>
                <a:lnTo>
                  <a:pt x="820483" y="609806"/>
                </a:lnTo>
                <a:lnTo>
                  <a:pt x="0" y="60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9616001" y="4581454"/>
            <a:ext cx="723056" cy="723056"/>
          </a:xfrm>
          <a:custGeom>
            <a:avLst/>
            <a:gdLst/>
            <a:ahLst/>
            <a:cxnLst/>
            <a:rect r="r" b="b" t="t" l="l"/>
            <a:pathLst>
              <a:path h="723056" w="723056">
                <a:moveTo>
                  <a:pt x="0" y="0"/>
                </a:moveTo>
                <a:lnTo>
                  <a:pt x="723056" y="0"/>
                </a:lnTo>
                <a:lnTo>
                  <a:pt x="723056" y="723056"/>
                </a:lnTo>
                <a:lnTo>
                  <a:pt x="0" y="723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3919396" y="7103247"/>
            <a:ext cx="694208" cy="689159"/>
          </a:xfrm>
          <a:custGeom>
            <a:avLst/>
            <a:gdLst/>
            <a:ahLst/>
            <a:cxnLst/>
            <a:rect r="r" b="b" t="t" l="l"/>
            <a:pathLst>
              <a:path h="689159" w="694208">
                <a:moveTo>
                  <a:pt x="0" y="0"/>
                </a:moveTo>
                <a:lnTo>
                  <a:pt x="694208" y="0"/>
                </a:lnTo>
                <a:lnTo>
                  <a:pt x="694208" y="689159"/>
                </a:lnTo>
                <a:lnTo>
                  <a:pt x="0" y="68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200823" y="885825"/>
            <a:ext cx="9886355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EXPANSION ROADMAP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653974" y="4327380"/>
            <a:ext cx="33400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Market Research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79845" y="4199623"/>
            <a:ext cx="45104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717092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064406" y="6696003"/>
            <a:ext cx="45104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A1B4A2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84420" y="4199623"/>
            <a:ext cx="45104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D9B98B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368980" y="6696003"/>
            <a:ext cx="45104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7DA2A9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958548" y="4327380"/>
            <a:ext cx="33400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Product Adjustment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28772" y="6832224"/>
            <a:ext cx="33400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New Market Launch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43301" y="6832224"/>
            <a:ext cx="33400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Evaluation &amp; Scaling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653974" y="4870880"/>
            <a:ext cx="409575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Evaluate potential markets before expanding the business.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958548" y="4870880"/>
            <a:ext cx="409575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Adapt products or services to fit the new market's needs.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28772" y="7375724"/>
            <a:ext cx="409575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Execute the launch strategy to enter new markets.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43301" y="7375724"/>
            <a:ext cx="409575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Review expansion results and plan continued growth.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1188777" y="7103247"/>
            <a:ext cx="732217" cy="732217"/>
          </a:xfrm>
          <a:custGeom>
            <a:avLst/>
            <a:gdLst/>
            <a:ahLst/>
            <a:cxnLst/>
            <a:rect r="r" b="b" t="t" l="l"/>
            <a:pathLst>
              <a:path h="732217" w="732217">
                <a:moveTo>
                  <a:pt x="0" y="0"/>
                </a:moveTo>
                <a:lnTo>
                  <a:pt x="732217" y="0"/>
                </a:lnTo>
                <a:lnTo>
                  <a:pt x="732217" y="732217"/>
                </a:lnTo>
                <a:lnTo>
                  <a:pt x="0" y="7322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14723" y="3356318"/>
            <a:ext cx="3690937" cy="3229570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8029" y="0"/>
              <a:ext cx="636741" cy="589475"/>
            </a:xfrm>
            <a:custGeom>
              <a:avLst/>
              <a:gdLst/>
              <a:ahLst/>
              <a:cxnLst/>
              <a:rect r="r" b="b" t="t" l="l"/>
              <a:pathLst>
                <a:path h="589475" w="636741">
                  <a:moveTo>
                    <a:pt x="422439" y="529082"/>
                  </a:moveTo>
                  <a:lnTo>
                    <a:pt x="620703" y="182118"/>
                  </a:lnTo>
                  <a:cubicBezTo>
                    <a:pt x="642232" y="144444"/>
                    <a:pt x="642077" y="98158"/>
                    <a:pt x="620298" y="60628"/>
                  </a:cubicBezTo>
                  <a:cubicBezTo>
                    <a:pt x="598518" y="23098"/>
                    <a:pt x="558408" y="0"/>
                    <a:pt x="515016" y="0"/>
                  </a:cubicBezTo>
                  <a:lnTo>
                    <a:pt x="121726" y="0"/>
                  </a:lnTo>
                  <a:cubicBezTo>
                    <a:pt x="78334" y="0"/>
                    <a:pt x="38224" y="23098"/>
                    <a:pt x="16444" y="60628"/>
                  </a:cubicBezTo>
                  <a:cubicBezTo>
                    <a:pt x="-5335" y="98158"/>
                    <a:pt x="-5490" y="144444"/>
                    <a:pt x="16039" y="182118"/>
                  </a:cubicBezTo>
                  <a:lnTo>
                    <a:pt x="214303" y="529082"/>
                  </a:lnTo>
                  <a:cubicBezTo>
                    <a:pt x="235644" y="566427"/>
                    <a:pt x="275358" y="589475"/>
                    <a:pt x="318371" y="589475"/>
                  </a:cubicBezTo>
                  <a:cubicBezTo>
                    <a:pt x="361384" y="589475"/>
                    <a:pt x="401098" y="566427"/>
                    <a:pt x="422439" y="529082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79088" y="4714162"/>
            <a:ext cx="1562207" cy="15622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7341543" y="3356318"/>
            <a:ext cx="3690937" cy="3229570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8029" y="0"/>
              <a:ext cx="636741" cy="589475"/>
            </a:xfrm>
            <a:custGeom>
              <a:avLst/>
              <a:gdLst/>
              <a:ahLst/>
              <a:cxnLst/>
              <a:rect r="r" b="b" t="t" l="l"/>
              <a:pathLst>
                <a:path h="589475" w="636741">
                  <a:moveTo>
                    <a:pt x="422439" y="529082"/>
                  </a:moveTo>
                  <a:lnTo>
                    <a:pt x="620703" y="182118"/>
                  </a:lnTo>
                  <a:cubicBezTo>
                    <a:pt x="642232" y="144444"/>
                    <a:pt x="642077" y="98158"/>
                    <a:pt x="620298" y="60628"/>
                  </a:cubicBezTo>
                  <a:cubicBezTo>
                    <a:pt x="598518" y="23098"/>
                    <a:pt x="558408" y="0"/>
                    <a:pt x="515016" y="0"/>
                  </a:cubicBezTo>
                  <a:lnTo>
                    <a:pt x="121726" y="0"/>
                  </a:lnTo>
                  <a:cubicBezTo>
                    <a:pt x="78334" y="0"/>
                    <a:pt x="38224" y="23098"/>
                    <a:pt x="16444" y="60628"/>
                  </a:cubicBezTo>
                  <a:cubicBezTo>
                    <a:pt x="-5335" y="98158"/>
                    <a:pt x="-5490" y="144444"/>
                    <a:pt x="16039" y="182118"/>
                  </a:cubicBezTo>
                  <a:lnTo>
                    <a:pt x="214303" y="529082"/>
                  </a:lnTo>
                  <a:cubicBezTo>
                    <a:pt x="235644" y="566427"/>
                    <a:pt x="275358" y="589475"/>
                    <a:pt x="318371" y="589475"/>
                  </a:cubicBezTo>
                  <a:cubicBezTo>
                    <a:pt x="361384" y="589475"/>
                    <a:pt x="401098" y="566427"/>
                    <a:pt x="422439" y="529082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5908" y="4714162"/>
            <a:ext cx="1562207" cy="156220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54953" y="6416500"/>
            <a:ext cx="3690937" cy="3229570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8029" y="0"/>
              <a:ext cx="636741" cy="589475"/>
            </a:xfrm>
            <a:custGeom>
              <a:avLst/>
              <a:gdLst/>
              <a:ahLst/>
              <a:cxnLst/>
              <a:rect r="r" b="b" t="t" l="l"/>
              <a:pathLst>
                <a:path h="589475" w="636741">
                  <a:moveTo>
                    <a:pt x="422439" y="529082"/>
                  </a:moveTo>
                  <a:lnTo>
                    <a:pt x="620703" y="182118"/>
                  </a:lnTo>
                  <a:cubicBezTo>
                    <a:pt x="642232" y="144444"/>
                    <a:pt x="642077" y="98158"/>
                    <a:pt x="620298" y="60628"/>
                  </a:cubicBezTo>
                  <a:cubicBezTo>
                    <a:pt x="598518" y="23098"/>
                    <a:pt x="558408" y="0"/>
                    <a:pt x="515016" y="0"/>
                  </a:cubicBezTo>
                  <a:lnTo>
                    <a:pt x="121726" y="0"/>
                  </a:lnTo>
                  <a:cubicBezTo>
                    <a:pt x="78334" y="0"/>
                    <a:pt x="38224" y="23098"/>
                    <a:pt x="16444" y="60628"/>
                  </a:cubicBezTo>
                  <a:cubicBezTo>
                    <a:pt x="-5335" y="98158"/>
                    <a:pt x="-5490" y="144444"/>
                    <a:pt x="16039" y="182118"/>
                  </a:cubicBezTo>
                  <a:lnTo>
                    <a:pt x="214303" y="529082"/>
                  </a:lnTo>
                  <a:cubicBezTo>
                    <a:pt x="235644" y="566427"/>
                    <a:pt x="275358" y="589475"/>
                    <a:pt x="318371" y="589475"/>
                  </a:cubicBezTo>
                  <a:cubicBezTo>
                    <a:pt x="361384" y="589475"/>
                    <a:pt x="401098" y="566427"/>
                    <a:pt x="422439" y="529082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3568363" y="3356318"/>
            <a:ext cx="3690937" cy="3229570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8029" y="0"/>
              <a:ext cx="636741" cy="589475"/>
            </a:xfrm>
            <a:custGeom>
              <a:avLst/>
              <a:gdLst/>
              <a:ahLst/>
              <a:cxnLst/>
              <a:rect r="r" b="b" t="t" l="l"/>
              <a:pathLst>
                <a:path h="589475" w="636741">
                  <a:moveTo>
                    <a:pt x="422439" y="529082"/>
                  </a:moveTo>
                  <a:lnTo>
                    <a:pt x="620703" y="182118"/>
                  </a:lnTo>
                  <a:cubicBezTo>
                    <a:pt x="642232" y="144444"/>
                    <a:pt x="642077" y="98158"/>
                    <a:pt x="620298" y="60628"/>
                  </a:cubicBezTo>
                  <a:cubicBezTo>
                    <a:pt x="598518" y="23098"/>
                    <a:pt x="558408" y="0"/>
                    <a:pt x="515016" y="0"/>
                  </a:cubicBezTo>
                  <a:lnTo>
                    <a:pt x="121726" y="0"/>
                  </a:lnTo>
                  <a:cubicBezTo>
                    <a:pt x="78334" y="0"/>
                    <a:pt x="38224" y="23098"/>
                    <a:pt x="16444" y="60628"/>
                  </a:cubicBezTo>
                  <a:cubicBezTo>
                    <a:pt x="-5335" y="98158"/>
                    <a:pt x="-5490" y="144444"/>
                    <a:pt x="16039" y="182118"/>
                  </a:cubicBezTo>
                  <a:lnTo>
                    <a:pt x="214303" y="529082"/>
                  </a:lnTo>
                  <a:cubicBezTo>
                    <a:pt x="235644" y="566427"/>
                    <a:pt x="275358" y="589475"/>
                    <a:pt x="318371" y="589475"/>
                  </a:cubicBezTo>
                  <a:cubicBezTo>
                    <a:pt x="361384" y="589475"/>
                    <a:pt x="401098" y="566427"/>
                    <a:pt x="422439" y="529082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28133" y="6416500"/>
            <a:ext cx="3690937" cy="3229570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8029" y="0"/>
              <a:ext cx="636741" cy="589475"/>
            </a:xfrm>
            <a:custGeom>
              <a:avLst/>
              <a:gdLst/>
              <a:ahLst/>
              <a:cxnLst/>
              <a:rect r="r" b="b" t="t" l="l"/>
              <a:pathLst>
                <a:path h="589475" w="636741">
                  <a:moveTo>
                    <a:pt x="422439" y="529082"/>
                  </a:moveTo>
                  <a:lnTo>
                    <a:pt x="620703" y="182118"/>
                  </a:lnTo>
                  <a:cubicBezTo>
                    <a:pt x="642232" y="144444"/>
                    <a:pt x="642077" y="98158"/>
                    <a:pt x="620298" y="60628"/>
                  </a:cubicBezTo>
                  <a:cubicBezTo>
                    <a:pt x="598518" y="23098"/>
                    <a:pt x="558408" y="0"/>
                    <a:pt x="515016" y="0"/>
                  </a:cubicBezTo>
                  <a:lnTo>
                    <a:pt x="121726" y="0"/>
                  </a:lnTo>
                  <a:cubicBezTo>
                    <a:pt x="78334" y="0"/>
                    <a:pt x="38224" y="23098"/>
                    <a:pt x="16444" y="60628"/>
                  </a:cubicBezTo>
                  <a:cubicBezTo>
                    <a:pt x="-5335" y="98158"/>
                    <a:pt x="-5490" y="144444"/>
                    <a:pt x="16039" y="182118"/>
                  </a:cubicBezTo>
                  <a:lnTo>
                    <a:pt x="214303" y="529082"/>
                  </a:lnTo>
                  <a:cubicBezTo>
                    <a:pt x="235644" y="566427"/>
                    <a:pt x="275358" y="589475"/>
                    <a:pt x="318371" y="589475"/>
                  </a:cubicBezTo>
                  <a:cubicBezTo>
                    <a:pt x="361384" y="589475"/>
                    <a:pt x="401098" y="566427"/>
                    <a:pt x="422439" y="529082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92498" y="6727519"/>
            <a:ext cx="1562207" cy="156220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32728" y="4714162"/>
            <a:ext cx="1562207" cy="156220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19318" y="6727519"/>
            <a:ext cx="1562207" cy="156220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2545444">
            <a:off x="2058488" y="3175652"/>
            <a:ext cx="1760271" cy="1606647"/>
          </a:xfrm>
          <a:custGeom>
            <a:avLst/>
            <a:gdLst/>
            <a:ahLst/>
            <a:cxnLst/>
            <a:rect r="r" b="b" t="t" l="l"/>
            <a:pathLst>
              <a:path h="1606647" w="1760271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2545444">
            <a:off x="8306876" y="3175652"/>
            <a:ext cx="1760271" cy="1606647"/>
          </a:xfrm>
          <a:custGeom>
            <a:avLst/>
            <a:gdLst/>
            <a:ahLst/>
            <a:cxnLst/>
            <a:rect r="r" b="b" t="t" l="l"/>
            <a:pathLst>
              <a:path h="1606647" w="1760271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8168989">
            <a:off x="5192418" y="8223419"/>
            <a:ext cx="1760271" cy="1606647"/>
          </a:xfrm>
          <a:custGeom>
            <a:avLst/>
            <a:gdLst/>
            <a:ahLst/>
            <a:cxnLst/>
            <a:rect r="r" b="b" t="t" l="l"/>
            <a:pathLst>
              <a:path h="1606647" w="1760271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2545444">
            <a:off x="14555264" y="3175652"/>
            <a:ext cx="1760271" cy="1606647"/>
          </a:xfrm>
          <a:custGeom>
            <a:avLst/>
            <a:gdLst/>
            <a:ahLst/>
            <a:cxnLst/>
            <a:rect r="r" b="b" t="t" l="l"/>
            <a:pathLst>
              <a:path h="1606647" w="1760271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8174555">
            <a:off x="11440806" y="8223419"/>
            <a:ext cx="1760271" cy="1606647"/>
          </a:xfrm>
          <a:custGeom>
            <a:avLst/>
            <a:gdLst/>
            <a:ahLst/>
            <a:cxnLst/>
            <a:rect r="r" b="b" t="t" l="l"/>
            <a:pathLst>
              <a:path h="1606647" w="1760271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637639" y="5113889"/>
            <a:ext cx="710154" cy="778057"/>
          </a:xfrm>
          <a:custGeom>
            <a:avLst/>
            <a:gdLst/>
            <a:ahLst/>
            <a:cxnLst/>
            <a:rect r="r" b="b" t="t" l="l"/>
            <a:pathLst>
              <a:path h="778057" w="710154">
                <a:moveTo>
                  <a:pt x="0" y="0"/>
                </a:moveTo>
                <a:lnTo>
                  <a:pt x="710153" y="0"/>
                </a:lnTo>
                <a:lnTo>
                  <a:pt x="710153" y="778057"/>
                </a:lnTo>
                <a:lnTo>
                  <a:pt x="0" y="778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682024" y="7094032"/>
            <a:ext cx="826167" cy="829182"/>
          </a:xfrm>
          <a:custGeom>
            <a:avLst/>
            <a:gdLst/>
            <a:ahLst/>
            <a:cxnLst/>
            <a:rect r="r" b="b" t="t" l="l"/>
            <a:pathLst>
              <a:path h="829182" w="826167">
                <a:moveTo>
                  <a:pt x="0" y="0"/>
                </a:moveTo>
                <a:lnTo>
                  <a:pt x="826166" y="0"/>
                </a:lnTo>
                <a:lnTo>
                  <a:pt x="826166" y="829181"/>
                </a:lnTo>
                <a:lnTo>
                  <a:pt x="0" y="8291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8677279" y="4987882"/>
            <a:ext cx="1019464" cy="1014767"/>
          </a:xfrm>
          <a:custGeom>
            <a:avLst/>
            <a:gdLst/>
            <a:ahLst/>
            <a:cxnLst/>
            <a:rect r="r" b="b" t="t" l="l"/>
            <a:pathLst>
              <a:path h="1014767" w="1019464">
                <a:moveTo>
                  <a:pt x="0" y="0"/>
                </a:moveTo>
                <a:lnTo>
                  <a:pt x="1019464" y="0"/>
                </a:lnTo>
                <a:lnTo>
                  <a:pt x="1019464" y="1014767"/>
                </a:lnTo>
                <a:lnTo>
                  <a:pt x="0" y="10147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827274" y="7019929"/>
            <a:ext cx="903284" cy="903284"/>
          </a:xfrm>
          <a:custGeom>
            <a:avLst/>
            <a:gdLst/>
            <a:ahLst/>
            <a:cxnLst/>
            <a:rect r="r" b="b" t="t" l="l"/>
            <a:pathLst>
              <a:path h="903284" w="903284">
                <a:moveTo>
                  <a:pt x="0" y="0"/>
                </a:moveTo>
                <a:lnTo>
                  <a:pt x="903284" y="0"/>
                </a:lnTo>
                <a:lnTo>
                  <a:pt x="903284" y="903284"/>
                </a:lnTo>
                <a:lnTo>
                  <a:pt x="0" y="903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998138" y="5062453"/>
            <a:ext cx="874522" cy="880929"/>
          </a:xfrm>
          <a:custGeom>
            <a:avLst/>
            <a:gdLst/>
            <a:ahLst/>
            <a:cxnLst/>
            <a:rect r="r" b="b" t="t" l="l"/>
            <a:pathLst>
              <a:path h="880929" w="874522">
                <a:moveTo>
                  <a:pt x="0" y="0"/>
                </a:moveTo>
                <a:lnTo>
                  <a:pt x="874523" y="0"/>
                </a:lnTo>
                <a:lnTo>
                  <a:pt x="874523" y="880929"/>
                </a:lnTo>
                <a:lnTo>
                  <a:pt x="0" y="8809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689388" y="885825"/>
            <a:ext cx="890922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LAUNCH ROADMAP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83933" y="7006006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Research &amp; Design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437573" y="7006006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Official Launch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18849" y="405546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Testing &amp; Feedback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67742" y="7006006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Product Refinement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02657" y="4055463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Marketing Strategy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55927" y="7949556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Design the product based on market research.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209567" y="7949556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Launch the product to the market with a coordinated campaign.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890842" y="499901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Test the product and gather feedback from early users.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39735" y="7949556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Adjust the product based on feedback and testing results.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74651" y="4999013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Develop a strong marketing strategy to support the launch.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707" y="4127686"/>
            <a:ext cx="3086100" cy="3980471"/>
            <a:chOff x="0" y="0"/>
            <a:chExt cx="812800" cy="10483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48354"/>
            </a:xfrm>
            <a:custGeom>
              <a:avLst/>
              <a:gdLst/>
              <a:ahLst/>
              <a:cxnLst/>
              <a:rect r="r" b="b" t="t" l="l"/>
              <a:pathLst>
                <a:path h="1048354" w="812800">
                  <a:moveTo>
                    <a:pt x="35121" y="0"/>
                  </a:moveTo>
                  <a:lnTo>
                    <a:pt x="777679" y="0"/>
                  </a:lnTo>
                  <a:cubicBezTo>
                    <a:pt x="797076" y="0"/>
                    <a:pt x="812800" y="15724"/>
                    <a:pt x="812800" y="35121"/>
                  </a:cubicBezTo>
                  <a:lnTo>
                    <a:pt x="812800" y="1013233"/>
                  </a:lnTo>
                  <a:cubicBezTo>
                    <a:pt x="812800" y="1032630"/>
                    <a:pt x="797076" y="1048354"/>
                    <a:pt x="777679" y="1048354"/>
                  </a:cubicBezTo>
                  <a:lnTo>
                    <a:pt x="35121" y="1048354"/>
                  </a:lnTo>
                  <a:cubicBezTo>
                    <a:pt x="25806" y="1048354"/>
                    <a:pt x="16873" y="1044654"/>
                    <a:pt x="10287" y="1038068"/>
                  </a:cubicBezTo>
                  <a:cubicBezTo>
                    <a:pt x="3700" y="1031481"/>
                    <a:pt x="0" y="1022548"/>
                    <a:pt x="0" y="1013233"/>
                  </a:cubicBezTo>
                  <a:lnTo>
                    <a:pt x="0" y="35121"/>
                  </a:lnTo>
                  <a:cubicBezTo>
                    <a:pt x="0" y="15724"/>
                    <a:pt x="15724" y="0"/>
                    <a:pt x="351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9828" y="4127686"/>
            <a:ext cx="3086100" cy="3980471"/>
            <a:chOff x="0" y="0"/>
            <a:chExt cx="812800" cy="1048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8354"/>
            </a:xfrm>
            <a:custGeom>
              <a:avLst/>
              <a:gdLst/>
              <a:ahLst/>
              <a:cxnLst/>
              <a:rect r="r" b="b" t="t" l="l"/>
              <a:pathLst>
                <a:path h="1048354" w="812800">
                  <a:moveTo>
                    <a:pt x="35121" y="0"/>
                  </a:moveTo>
                  <a:lnTo>
                    <a:pt x="777679" y="0"/>
                  </a:lnTo>
                  <a:cubicBezTo>
                    <a:pt x="797076" y="0"/>
                    <a:pt x="812800" y="15724"/>
                    <a:pt x="812800" y="35121"/>
                  </a:cubicBezTo>
                  <a:lnTo>
                    <a:pt x="812800" y="1013233"/>
                  </a:lnTo>
                  <a:cubicBezTo>
                    <a:pt x="812800" y="1032630"/>
                    <a:pt x="797076" y="1048354"/>
                    <a:pt x="777679" y="1048354"/>
                  </a:cubicBezTo>
                  <a:lnTo>
                    <a:pt x="35121" y="1048354"/>
                  </a:lnTo>
                  <a:cubicBezTo>
                    <a:pt x="25806" y="1048354"/>
                    <a:pt x="16873" y="1044654"/>
                    <a:pt x="10287" y="1038068"/>
                  </a:cubicBezTo>
                  <a:cubicBezTo>
                    <a:pt x="3700" y="1031481"/>
                    <a:pt x="0" y="1022548"/>
                    <a:pt x="0" y="1013233"/>
                  </a:cubicBezTo>
                  <a:lnTo>
                    <a:pt x="0" y="35121"/>
                  </a:lnTo>
                  <a:cubicBezTo>
                    <a:pt x="0" y="15724"/>
                    <a:pt x="15724" y="0"/>
                    <a:pt x="351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7616" y="3607313"/>
            <a:ext cx="1708281" cy="1700495"/>
            <a:chOff x="0" y="0"/>
            <a:chExt cx="660400" cy="6573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57390"/>
            </a:xfrm>
            <a:custGeom>
              <a:avLst/>
              <a:gdLst/>
              <a:ahLst/>
              <a:cxnLst/>
              <a:rect r="r" b="b" t="t" l="l"/>
              <a:pathLst>
                <a:path h="657390" w="66040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08738" y="3607313"/>
            <a:ext cx="1708281" cy="1700495"/>
            <a:chOff x="0" y="0"/>
            <a:chExt cx="660400" cy="6573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657390"/>
            </a:xfrm>
            <a:custGeom>
              <a:avLst/>
              <a:gdLst/>
              <a:ahLst/>
              <a:cxnLst/>
              <a:rect r="r" b="b" t="t" l="l"/>
              <a:pathLst>
                <a:path h="657390" w="66040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00950" y="4127686"/>
            <a:ext cx="3086100" cy="3980471"/>
            <a:chOff x="0" y="0"/>
            <a:chExt cx="812800" cy="10483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048354"/>
            </a:xfrm>
            <a:custGeom>
              <a:avLst/>
              <a:gdLst/>
              <a:ahLst/>
              <a:cxnLst/>
              <a:rect r="r" b="b" t="t" l="l"/>
              <a:pathLst>
                <a:path h="1048354" w="812800">
                  <a:moveTo>
                    <a:pt x="35121" y="0"/>
                  </a:moveTo>
                  <a:lnTo>
                    <a:pt x="777679" y="0"/>
                  </a:lnTo>
                  <a:cubicBezTo>
                    <a:pt x="797076" y="0"/>
                    <a:pt x="812800" y="15724"/>
                    <a:pt x="812800" y="35121"/>
                  </a:cubicBezTo>
                  <a:lnTo>
                    <a:pt x="812800" y="1013233"/>
                  </a:lnTo>
                  <a:cubicBezTo>
                    <a:pt x="812800" y="1032630"/>
                    <a:pt x="797076" y="1048354"/>
                    <a:pt x="777679" y="1048354"/>
                  </a:cubicBezTo>
                  <a:lnTo>
                    <a:pt x="35121" y="1048354"/>
                  </a:lnTo>
                  <a:cubicBezTo>
                    <a:pt x="25806" y="1048354"/>
                    <a:pt x="16873" y="1044654"/>
                    <a:pt x="10287" y="1038068"/>
                  </a:cubicBezTo>
                  <a:cubicBezTo>
                    <a:pt x="3700" y="1031481"/>
                    <a:pt x="0" y="1022548"/>
                    <a:pt x="0" y="1013233"/>
                  </a:cubicBezTo>
                  <a:lnTo>
                    <a:pt x="0" y="35121"/>
                  </a:lnTo>
                  <a:cubicBezTo>
                    <a:pt x="0" y="15724"/>
                    <a:pt x="15724" y="0"/>
                    <a:pt x="351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89860" y="3607313"/>
            <a:ext cx="1708281" cy="1700495"/>
            <a:chOff x="0" y="0"/>
            <a:chExt cx="660400" cy="6573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657390"/>
            </a:xfrm>
            <a:custGeom>
              <a:avLst/>
              <a:gdLst/>
              <a:ahLst/>
              <a:cxnLst/>
              <a:rect r="r" b="b" t="t" l="l"/>
              <a:pathLst>
                <a:path h="657390" w="66040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82072" y="4127686"/>
            <a:ext cx="3086100" cy="3980471"/>
            <a:chOff x="0" y="0"/>
            <a:chExt cx="812800" cy="10483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048354"/>
            </a:xfrm>
            <a:custGeom>
              <a:avLst/>
              <a:gdLst/>
              <a:ahLst/>
              <a:cxnLst/>
              <a:rect r="r" b="b" t="t" l="l"/>
              <a:pathLst>
                <a:path h="1048354" w="812800">
                  <a:moveTo>
                    <a:pt x="35121" y="0"/>
                  </a:moveTo>
                  <a:lnTo>
                    <a:pt x="777679" y="0"/>
                  </a:lnTo>
                  <a:cubicBezTo>
                    <a:pt x="797076" y="0"/>
                    <a:pt x="812800" y="15724"/>
                    <a:pt x="812800" y="35121"/>
                  </a:cubicBezTo>
                  <a:lnTo>
                    <a:pt x="812800" y="1013233"/>
                  </a:lnTo>
                  <a:cubicBezTo>
                    <a:pt x="812800" y="1032630"/>
                    <a:pt x="797076" y="1048354"/>
                    <a:pt x="777679" y="1048354"/>
                  </a:cubicBezTo>
                  <a:lnTo>
                    <a:pt x="35121" y="1048354"/>
                  </a:lnTo>
                  <a:cubicBezTo>
                    <a:pt x="25806" y="1048354"/>
                    <a:pt x="16873" y="1044654"/>
                    <a:pt x="10287" y="1038068"/>
                  </a:cubicBezTo>
                  <a:cubicBezTo>
                    <a:pt x="3700" y="1031481"/>
                    <a:pt x="0" y="1022548"/>
                    <a:pt x="0" y="1013233"/>
                  </a:cubicBezTo>
                  <a:lnTo>
                    <a:pt x="0" y="35121"/>
                  </a:lnTo>
                  <a:cubicBezTo>
                    <a:pt x="0" y="15724"/>
                    <a:pt x="15724" y="0"/>
                    <a:pt x="351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70981" y="3607313"/>
            <a:ext cx="1708281" cy="1700495"/>
            <a:chOff x="0" y="0"/>
            <a:chExt cx="660400" cy="6573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400" cy="657390"/>
            </a:xfrm>
            <a:custGeom>
              <a:avLst/>
              <a:gdLst/>
              <a:ahLst/>
              <a:cxnLst/>
              <a:rect r="r" b="b" t="t" l="l"/>
              <a:pathLst>
                <a:path h="657390" w="66040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63193" y="4127686"/>
            <a:ext cx="3086100" cy="3980471"/>
            <a:chOff x="0" y="0"/>
            <a:chExt cx="812800" cy="10483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1048354"/>
            </a:xfrm>
            <a:custGeom>
              <a:avLst/>
              <a:gdLst/>
              <a:ahLst/>
              <a:cxnLst/>
              <a:rect r="r" b="b" t="t" l="l"/>
              <a:pathLst>
                <a:path h="1048354" w="812800">
                  <a:moveTo>
                    <a:pt x="35121" y="0"/>
                  </a:moveTo>
                  <a:lnTo>
                    <a:pt x="777679" y="0"/>
                  </a:lnTo>
                  <a:cubicBezTo>
                    <a:pt x="797076" y="0"/>
                    <a:pt x="812800" y="15724"/>
                    <a:pt x="812800" y="35121"/>
                  </a:cubicBezTo>
                  <a:lnTo>
                    <a:pt x="812800" y="1013233"/>
                  </a:lnTo>
                  <a:cubicBezTo>
                    <a:pt x="812800" y="1032630"/>
                    <a:pt x="797076" y="1048354"/>
                    <a:pt x="777679" y="1048354"/>
                  </a:cubicBezTo>
                  <a:lnTo>
                    <a:pt x="35121" y="1048354"/>
                  </a:lnTo>
                  <a:cubicBezTo>
                    <a:pt x="25806" y="1048354"/>
                    <a:pt x="16873" y="1044654"/>
                    <a:pt x="10287" y="1038068"/>
                  </a:cubicBezTo>
                  <a:cubicBezTo>
                    <a:pt x="3700" y="1031481"/>
                    <a:pt x="0" y="1022548"/>
                    <a:pt x="0" y="1013233"/>
                  </a:cubicBezTo>
                  <a:lnTo>
                    <a:pt x="0" y="35121"/>
                  </a:lnTo>
                  <a:cubicBezTo>
                    <a:pt x="0" y="15724"/>
                    <a:pt x="15724" y="0"/>
                    <a:pt x="351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852103" y="3607313"/>
            <a:ext cx="1708281" cy="1700495"/>
            <a:chOff x="0" y="0"/>
            <a:chExt cx="660400" cy="657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" cy="657390"/>
            </a:xfrm>
            <a:custGeom>
              <a:avLst/>
              <a:gdLst/>
              <a:ahLst/>
              <a:cxnLst/>
              <a:rect r="r" b="b" t="t" l="l"/>
              <a:pathLst>
                <a:path h="657390" w="66040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8558003"/>
            <a:ext cx="3244119" cy="233566"/>
            <a:chOff x="0" y="0"/>
            <a:chExt cx="854418" cy="615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4418" cy="61515"/>
            </a:xfrm>
            <a:custGeom>
              <a:avLst/>
              <a:gdLst/>
              <a:ahLst/>
              <a:cxnLst/>
              <a:rect r="r" b="b" t="t" l="l"/>
              <a:pathLst>
                <a:path h="61515" w="854418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54418" cy="118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16937" y="8558003"/>
            <a:ext cx="3244119" cy="233566"/>
            <a:chOff x="0" y="0"/>
            <a:chExt cx="854418" cy="615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4418" cy="61515"/>
            </a:xfrm>
            <a:custGeom>
              <a:avLst/>
              <a:gdLst/>
              <a:ahLst/>
              <a:cxnLst/>
              <a:rect r="r" b="b" t="t" l="l"/>
              <a:pathLst>
                <a:path h="61515" w="854418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54418" cy="118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272819" y="8558003"/>
            <a:ext cx="3244119" cy="233566"/>
            <a:chOff x="0" y="0"/>
            <a:chExt cx="854418" cy="615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4418" cy="61515"/>
            </a:xfrm>
            <a:custGeom>
              <a:avLst/>
              <a:gdLst/>
              <a:ahLst/>
              <a:cxnLst/>
              <a:rect r="r" b="b" t="t" l="l"/>
              <a:pathLst>
                <a:path h="61515" w="854418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54418" cy="118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61056" y="8558003"/>
            <a:ext cx="3244119" cy="233566"/>
            <a:chOff x="0" y="0"/>
            <a:chExt cx="854418" cy="61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4418" cy="61515"/>
            </a:xfrm>
            <a:custGeom>
              <a:avLst/>
              <a:gdLst/>
              <a:ahLst/>
              <a:cxnLst/>
              <a:rect r="r" b="b" t="t" l="l"/>
              <a:pathLst>
                <a:path h="61515" w="854418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54418" cy="118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05175" y="8558003"/>
            <a:ext cx="3244119" cy="233566"/>
            <a:chOff x="0" y="0"/>
            <a:chExt cx="854418" cy="615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4418" cy="61515"/>
            </a:xfrm>
            <a:custGeom>
              <a:avLst/>
              <a:gdLst/>
              <a:ahLst/>
              <a:cxnLst/>
              <a:rect r="r" b="b" t="t" l="l"/>
              <a:pathLst>
                <a:path h="61515" w="854418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854418" cy="118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353675" y="8446705"/>
            <a:ext cx="456163" cy="456163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666797" y="8446705"/>
            <a:ext cx="456163" cy="456163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979918" y="8446705"/>
            <a:ext cx="456163" cy="456163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93039" y="8446705"/>
            <a:ext cx="456163" cy="456163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606161" y="8446705"/>
            <a:ext cx="456163" cy="456163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2154609" y="4080216"/>
            <a:ext cx="854295" cy="854295"/>
          </a:xfrm>
          <a:custGeom>
            <a:avLst/>
            <a:gdLst/>
            <a:ahLst/>
            <a:cxnLst/>
            <a:rect r="r" b="b" t="t" l="l"/>
            <a:pathLst>
              <a:path h="854295" w="854295">
                <a:moveTo>
                  <a:pt x="0" y="0"/>
                </a:moveTo>
                <a:lnTo>
                  <a:pt x="854295" y="0"/>
                </a:lnTo>
                <a:lnTo>
                  <a:pt x="854295" y="854295"/>
                </a:lnTo>
                <a:lnTo>
                  <a:pt x="0" y="854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3" id="63"/>
          <p:cNvSpPr/>
          <p:nvPr/>
        </p:nvSpPr>
        <p:spPr>
          <a:xfrm flipH="false" flipV="false" rot="0">
            <a:off x="5518926" y="4250359"/>
            <a:ext cx="687904" cy="684152"/>
          </a:xfrm>
          <a:custGeom>
            <a:avLst/>
            <a:gdLst/>
            <a:ahLst/>
            <a:cxnLst/>
            <a:rect r="r" b="b" t="t" l="l"/>
            <a:pathLst>
              <a:path h="684152" w="687904">
                <a:moveTo>
                  <a:pt x="0" y="0"/>
                </a:moveTo>
                <a:lnTo>
                  <a:pt x="687904" y="0"/>
                </a:lnTo>
                <a:lnTo>
                  <a:pt x="687904" y="684152"/>
                </a:lnTo>
                <a:lnTo>
                  <a:pt x="0" y="684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5282622" y="4240277"/>
            <a:ext cx="832397" cy="694234"/>
          </a:xfrm>
          <a:custGeom>
            <a:avLst/>
            <a:gdLst/>
            <a:ahLst/>
            <a:cxnLst/>
            <a:rect r="r" b="b" t="t" l="l"/>
            <a:pathLst>
              <a:path h="694234" w="832397">
                <a:moveTo>
                  <a:pt x="0" y="0"/>
                </a:moveTo>
                <a:lnTo>
                  <a:pt x="832397" y="0"/>
                </a:lnTo>
                <a:lnTo>
                  <a:pt x="832397" y="694234"/>
                </a:lnTo>
                <a:lnTo>
                  <a:pt x="0" y="694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5" id="65"/>
          <p:cNvSpPr/>
          <p:nvPr/>
        </p:nvSpPr>
        <p:spPr>
          <a:xfrm flipH="false" flipV="false" rot="0">
            <a:off x="12001500" y="4221674"/>
            <a:ext cx="891327" cy="662460"/>
          </a:xfrm>
          <a:custGeom>
            <a:avLst/>
            <a:gdLst/>
            <a:ahLst/>
            <a:cxnLst/>
            <a:rect r="r" b="b" t="t" l="l"/>
            <a:pathLst>
              <a:path h="662460" w="891327">
                <a:moveTo>
                  <a:pt x="0" y="0"/>
                </a:moveTo>
                <a:lnTo>
                  <a:pt x="891327" y="0"/>
                </a:lnTo>
                <a:lnTo>
                  <a:pt x="891327" y="662460"/>
                </a:lnTo>
                <a:lnTo>
                  <a:pt x="0" y="662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8803823" y="4293649"/>
            <a:ext cx="680355" cy="669222"/>
          </a:xfrm>
          <a:custGeom>
            <a:avLst/>
            <a:gdLst/>
            <a:ahLst/>
            <a:cxnLst/>
            <a:rect r="r" b="b" t="t" l="l"/>
            <a:pathLst>
              <a:path h="669222" w="680355">
                <a:moveTo>
                  <a:pt x="0" y="0"/>
                </a:moveTo>
                <a:lnTo>
                  <a:pt x="680354" y="0"/>
                </a:lnTo>
                <a:lnTo>
                  <a:pt x="680354" y="669221"/>
                </a:lnTo>
                <a:lnTo>
                  <a:pt x="0" y="66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7" id="67"/>
          <p:cNvSpPr txBox="true"/>
          <p:nvPr/>
        </p:nvSpPr>
        <p:spPr>
          <a:xfrm rot="0">
            <a:off x="4407768" y="885825"/>
            <a:ext cx="947246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STRATEGY ROADMAP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05498" y="5517358"/>
            <a:ext cx="1952516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Research &amp; Audience Targeting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886620" y="5517358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Content Creation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77492" y="6860958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Identify the target audience for a tailored content strategy.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658614" y="6460908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Create relevant content that meets audience needs and preferences.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167742" y="5517358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Distribution &amp; Promotion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939735" y="6460908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Distribute content through the most effective channels.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448863" y="5517358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Analytics &amp; Feedback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220857" y="6460908"/>
            <a:ext cx="240852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Monitor content performance and gather audience feedback.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729985" y="5517358"/>
            <a:ext cx="195251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Strategy Adjustment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501979" y="6460908"/>
            <a:ext cx="240852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Refine the content strategy based on data and feedback.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9204" y="3722836"/>
            <a:ext cx="1376310" cy="137631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9243" y="3722836"/>
            <a:ext cx="1376310" cy="13763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867203" y="4687737"/>
            <a:ext cx="2600311" cy="4367010"/>
            <a:chOff x="0" y="0"/>
            <a:chExt cx="635000" cy="1066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3657242" y="4687737"/>
            <a:ext cx="2600311" cy="4367010"/>
            <a:chOff x="0" y="0"/>
            <a:chExt cx="635000" cy="10664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7956" y="3891588"/>
            <a:ext cx="1038806" cy="103880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37995" y="3891588"/>
            <a:ext cx="1038806" cy="103880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51502" y="4957715"/>
            <a:ext cx="831713" cy="370691"/>
            <a:chOff x="0" y="0"/>
            <a:chExt cx="1509399" cy="6727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41541" y="4957715"/>
            <a:ext cx="831713" cy="370691"/>
            <a:chOff x="0" y="0"/>
            <a:chExt cx="1509399" cy="6727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4039" y="8258229"/>
            <a:ext cx="2466639" cy="437909"/>
            <a:chOff x="0" y="0"/>
            <a:chExt cx="757405" cy="1344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24078" y="8258229"/>
            <a:ext cx="2466639" cy="437909"/>
            <a:chOff x="0" y="0"/>
            <a:chExt cx="757405" cy="134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60053" y="3722836"/>
            <a:ext cx="1376310" cy="137631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10800000">
            <a:off x="6448053" y="4687737"/>
            <a:ext cx="2600311" cy="4367010"/>
            <a:chOff x="0" y="0"/>
            <a:chExt cx="635000" cy="10664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228806" y="3891588"/>
            <a:ext cx="1038806" cy="103880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32352" y="4957715"/>
            <a:ext cx="831713" cy="370691"/>
            <a:chOff x="0" y="0"/>
            <a:chExt cx="1509399" cy="6727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14889" y="8258229"/>
            <a:ext cx="2466639" cy="437909"/>
            <a:chOff x="0" y="0"/>
            <a:chExt cx="757405" cy="1344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50864" y="3722836"/>
            <a:ext cx="1376310" cy="137631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10800000">
            <a:off x="9238864" y="4687737"/>
            <a:ext cx="2600311" cy="4367010"/>
            <a:chOff x="0" y="0"/>
            <a:chExt cx="635000" cy="1066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19617" y="3891588"/>
            <a:ext cx="1038806" cy="1038806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23163" y="4957715"/>
            <a:ext cx="831713" cy="370691"/>
            <a:chOff x="0" y="0"/>
            <a:chExt cx="1509399" cy="6727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05700" y="8258229"/>
            <a:ext cx="2466639" cy="437909"/>
            <a:chOff x="0" y="0"/>
            <a:chExt cx="757405" cy="1344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41675" y="3722836"/>
            <a:ext cx="1376310" cy="1376310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C95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432486" y="3722836"/>
            <a:ext cx="1376310" cy="1376310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7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10800000">
            <a:off x="12029675" y="4687737"/>
            <a:ext cx="2600311" cy="4367010"/>
            <a:chOff x="0" y="0"/>
            <a:chExt cx="635000" cy="10664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9E8C95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10800000">
            <a:off x="14820486" y="4687737"/>
            <a:ext cx="2600311" cy="4367010"/>
            <a:chOff x="0" y="0"/>
            <a:chExt cx="635000" cy="1066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5000" cy="1063183"/>
            </a:xfrm>
            <a:custGeom>
              <a:avLst/>
              <a:gdLst/>
              <a:ahLst/>
              <a:cxnLst/>
              <a:rect r="r" b="b" t="t" l="l"/>
              <a:pathLst>
                <a:path h="1063183" w="635000">
                  <a:moveTo>
                    <a:pt x="635000" y="18608"/>
                  </a:moveTo>
                  <a:lnTo>
                    <a:pt x="635000" y="933522"/>
                  </a:lnTo>
                  <a:cubicBezTo>
                    <a:pt x="635000" y="944687"/>
                    <a:pt x="627996" y="954652"/>
                    <a:pt x="617492" y="958434"/>
                  </a:cubicBezTo>
                  <a:lnTo>
                    <a:pt x="335008" y="1060128"/>
                  </a:lnTo>
                  <a:cubicBezTo>
                    <a:pt x="323692" y="1064202"/>
                    <a:pt x="311308" y="1064202"/>
                    <a:pt x="299992" y="1060128"/>
                  </a:cubicBezTo>
                  <a:lnTo>
                    <a:pt x="17508" y="958434"/>
                  </a:lnTo>
                  <a:cubicBezTo>
                    <a:pt x="7004" y="954652"/>
                    <a:pt x="0" y="944687"/>
                    <a:pt x="0" y="933522"/>
                  </a:cubicBezTo>
                  <a:lnTo>
                    <a:pt x="0" y="18608"/>
                  </a:lnTo>
                  <a:cubicBezTo>
                    <a:pt x="0" y="8331"/>
                    <a:pt x="8331" y="0"/>
                    <a:pt x="18608" y="0"/>
                  </a:cubicBezTo>
                  <a:lnTo>
                    <a:pt x="616392" y="0"/>
                  </a:lnTo>
                  <a:cubicBezTo>
                    <a:pt x="626669" y="0"/>
                    <a:pt x="635000" y="8331"/>
                    <a:pt x="635000" y="186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667B8A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35000" cy="100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810427" y="3891588"/>
            <a:ext cx="1038806" cy="1038806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601238" y="3891588"/>
            <a:ext cx="1038806" cy="1038806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913974" y="4957715"/>
            <a:ext cx="831713" cy="370691"/>
            <a:chOff x="0" y="0"/>
            <a:chExt cx="1509399" cy="67273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704784" y="4957715"/>
            <a:ext cx="831713" cy="370691"/>
            <a:chOff x="0" y="0"/>
            <a:chExt cx="1509399" cy="67273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09399" cy="672734"/>
            </a:xfrm>
            <a:custGeom>
              <a:avLst/>
              <a:gdLst/>
              <a:ahLst/>
              <a:cxnLst/>
              <a:rect r="r" b="b" t="t" l="l"/>
              <a:pathLst>
                <a:path h="672734" w="1509399">
                  <a:moveTo>
                    <a:pt x="754700" y="672734"/>
                  </a:moveTo>
                  <a:lnTo>
                    <a:pt x="1509399" y="0"/>
                  </a:lnTo>
                  <a:lnTo>
                    <a:pt x="0" y="0"/>
                  </a:lnTo>
                  <a:lnTo>
                    <a:pt x="754700" y="672734"/>
                  </a:lnTo>
                  <a:close/>
                </a:path>
              </a:pathLst>
            </a:custGeom>
            <a:solidFill>
              <a:srgbClr val="667B8A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235844" y="-9098"/>
              <a:ext cx="1037712" cy="3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096511" y="8258229"/>
            <a:ext cx="2466639" cy="437909"/>
            <a:chOff x="0" y="0"/>
            <a:chExt cx="757405" cy="1344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887322" y="8258229"/>
            <a:ext cx="2466639" cy="437909"/>
            <a:chOff x="0" y="0"/>
            <a:chExt cx="757405" cy="1344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57405" cy="134464"/>
            </a:xfrm>
            <a:custGeom>
              <a:avLst/>
              <a:gdLst/>
              <a:ahLst/>
              <a:cxnLst/>
              <a:rect r="r" b="b" t="t" l="l"/>
              <a:pathLst>
                <a:path h="134464" w="757405">
                  <a:moveTo>
                    <a:pt x="0" y="0"/>
                  </a:moveTo>
                  <a:lnTo>
                    <a:pt x="757405" y="0"/>
                  </a:lnTo>
                  <a:lnTo>
                    <a:pt x="757405" y="134464"/>
                  </a:lnTo>
                  <a:lnTo>
                    <a:pt x="0" y="134464"/>
                  </a:lnTo>
                  <a:close/>
                </a:path>
              </a:pathLst>
            </a:custGeom>
            <a:solidFill>
              <a:srgbClr val="667B8A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757405" cy="19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879537" y="4112870"/>
            <a:ext cx="575644" cy="596242"/>
          </a:xfrm>
          <a:custGeom>
            <a:avLst/>
            <a:gdLst/>
            <a:ahLst/>
            <a:cxnLst/>
            <a:rect r="r" b="b" t="t" l="l"/>
            <a:pathLst>
              <a:path h="596242" w="575644">
                <a:moveTo>
                  <a:pt x="0" y="0"/>
                </a:moveTo>
                <a:lnTo>
                  <a:pt x="575644" y="0"/>
                </a:lnTo>
                <a:lnTo>
                  <a:pt x="575644" y="596242"/>
                </a:lnTo>
                <a:lnTo>
                  <a:pt x="0" y="59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3" id="93"/>
          <p:cNvSpPr/>
          <p:nvPr/>
        </p:nvSpPr>
        <p:spPr>
          <a:xfrm flipH="false" flipV="false" rot="0">
            <a:off x="4628828" y="4075092"/>
            <a:ext cx="657140" cy="671798"/>
          </a:xfrm>
          <a:custGeom>
            <a:avLst/>
            <a:gdLst/>
            <a:ahLst/>
            <a:cxnLst/>
            <a:rect r="r" b="b" t="t" l="l"/>
            <a:pathLst>
              <a:path h="671798" w="657140">
                <a:moveTo>
                  <a:pt x="0" y="0"/>
                </a:moveTo>
                <a:lnTo>
                  <a:pt x="657140" y="0"/>
                </a:lnTo>
                <a:lnTo>
                  <a:pt x="657140" y="671798"/>
                </a:lnTo>
                <a:lnTo>
                  <a:pt x="0" y="671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4" id="94"/>
          <p:cNvSpPr/>
          <p:nvPr/>
        </p:nvSpPr>
        <p:spPr>
          <a:xfrm flipH="false" flipV="false" rot="0">
            <a:off x="7442363" y="4105145"/>
            <a:ext cx="611691" cy="611691"/>
          </a:xfrm>
          <a:custGeom>
            <a:avLst/>
            <a:gdLst/>
            <a:ahLst/>
            <a:cxnLst/>
            <a:rect r="r" b="b" t="t" l="l"/>
            <a:pathLst>
              <a:path h="611691" w="611691">
                <a:moveTo>
                  <a:pt x="0" y="0"/>
                </a:moveTo>
                <a:lnTo>
                  <a:pt x="611691" y="0"/>
                </a:lnTo>
                <a:lnTo>
                  <a:pt x="611691" y="611692"/>
                </a:lnTo>
                <a:lnTo>
                  <a:pt x="0" y="61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5" id="95"/>
          <p:cNvSpPr/>
          <p:nvPr/>
        </p:nvSpPr>
        <p:spPr>
          <a:xfrm flipH="false" flipV="false" rot="0">
            <a:off x="10221277" y="4105145"/>
            <a:ext cx="635484" cy="611691"/>
          </a:xfrm>
          <a:custGeom>
            <a:avLst/>
            <a:gdLst/>
            <a:ahLst/>
            <a:cxnLst/>
            <a:rect r="r" b="b" t="t" l="l"/>
            <a:pathLst>
              <a:path h="611691" w="635484">
                <a:moveTo>
                  <a:pt x="0" y="0"/>
                </a:moveTo>
                <a:lnTo>
                  <a:pt x="635485" y="0"/>
                </a:lnTo>
                <a:lnTo>
                  <a:pt x="635485" y="611692"/>
                </a:lnTo>
                <a:lnTo>
                  <a:pt x="0" y="611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6" id="96"/>
          <p:cNvSpPr/>
          <p:nvPr/>
        </p:nvSpPr>
        <p:spPr>
          <a:xfrm flipH="false" flipV="false" rot="0">
            <a:off x="13046998" y="4087586"/>
            <a:ext cx="565665" cy="646811"/>
          </a:xfrm>
          <a:custGeom>
            <a:avLst/>
            <a:gdLst/>
            <a:ahLst/>
            <a:cxnLst/>
            <a:rect r="r" b="b" t="t" l="l"/>
            <a:pathLst>
              <a:path h="646811" w="565665">
                <a:moveTo>
                  <a:pt x="0" y="0"/>
                </a:moveTo>
                <a:lnTo>
                  <a:pt x="565665" y="0"/>
                </a:lnTo>
                <a:lnTo>
                  <a:pt x="565665" y="646811"/>
                </a:lnTo>
                <a:lnTo>
                  <a:pt x="0" y="646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7" id="97"/>
          <p:cNvSpPr/>
          <p:nvPr/>
        </p:nvSpPr>
        <p:spPr>
          <a:xfrm flipH="false" flipV="false" rot="0">
            <a:off x="15767085" y="4059064"/>
            <a:ext cx="707113" cy="703855"/>
          </a:xfrm>
          <a:custGeom>
            <a:avLst/>
            <a:gdLst/>
            <a:ahLst/>
            <a:cxnLst/>
            <a:rect r="r" b="b" t="t" l="l"/>
            <a:pathLst>
              <a:path h="703855" w="707113">
                <a:moveTo>
                  <a:pt x="0" y="0"/>
                </a:moveTo>
                <a:lnTo>
                  <a:pt x="707113" y="0"/>
                </a:lnTo>
                <a:lnTo>
                  <a:pt x="707113" y="703855"/>
                </a:lnTo>
                <a:lnTo>
                  <a:pt x="0" y="7038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8" id="98"/>
          <p:cNvSpPr txBox="true"/>
          <p:nvPr/>
        </p:nvSpPr>
        <p:spPr>
          <a:xfrm rot="0">
            <a:off x="5125492" y="885825"/>
            <a:ext cx="803701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SALES PROCESS ROADMAP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240738" y="1975191"/>
            <a:ext cx="980652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elit. Vivamus lacinia odio vitae vestibulum. Nullam quis risus eget urna mollis ornare vel eu leo.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34424" y="5549947"/>
            <a:ext cx="206586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Prospect Identification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647956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1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437995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2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924463" y="5549947"/>
            <a:ext cx="206586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Prospect Qualification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34424" y="6494199"/>
            <a:ext cx="206586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Find and identify prospects that match your target market.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924463" y="6494199"/>
            <a:ext cx="2065869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Validate prospects before moving forward with product prototyping.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910842" y="5549947"/>
            <a:ext cx="1674733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Initial Approach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715274" y="6494199"/>
            <a:ext cx="206586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Analyze trends and customer needs to validate the product idea.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9701653" y="5549947"/>
            <a:ext cx="1674733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Offer Presentation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506085" y="6494199"/>
            <a:ext cx="206586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Present the product and identify issues for improvement.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492464" y="5549947"/>
            <a:ext cx="167473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Negotiation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5283275" y="5549947"/>
            <a:ext cx="167473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Closing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2296896" y="6091160"/>
            <a:ext cx="206586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Negotiate terms and adjust based on feedback from product testing.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5087706" y="6091160"/>
            <a:ext cx="206586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Finalize the deal and launch the product with an integrated marketing strategy.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228806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3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019617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4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810427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5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601238" y="8333413"/>
            <a:ext cx="1038806" cy="2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4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STEP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DAG6gyiKGMM</dc:identifier>
  <dcterms:modified xsi:type="dcterms:W3CDTF">2011-08-01T06:04:30Z</dcterms:modified>
  <cp:revision>1</cp:revision>
  <dc:title>Purple Yellow and Green Modern Product Development Roadmap Presentation</dc:title>
</cp:coreProperties>
</file>